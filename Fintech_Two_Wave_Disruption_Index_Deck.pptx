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ends 0:45] Opening.</a:t>
            </a:r>
          </a:p>
          <a:p>
            <a:r>
              <a:t>Welcome. This project asks a deceptively simple question: is the fintech</a:t>
            </a:r>
          </a:p>
          <a:p>
            <a:r>
              <a:t>disruption of banking basically over, or are we at the start of a new,</a:t>
            </a:r>
          </a:p>
          <a:p>
            <a:r>
              <a:t>AI-native phase? My core move is to refuse to treat that as one question — I</a:t>
            </a:r>
          </a:p>
          <a:p>
            <a:r>
              <a:t>split it into two waves with different clocks and measure each turning point</a:t>
            </a:r>
          </a:p>
          <a:p>
            <a:r>
              <a:t>independently. Everything follows the exact sequence of the dashboard: data,</a:t>
            </a:r>
          </a:p>
          <a:p>
            <a:r>
              <a:t>index construction, turning points, robustness, convergence, verdict. There's a</a:t>
            </a:r>
          </a:p>
          <a:p>
            <a:r>
              <a:t>lot of detail; I'll flag which claims are measured and which are predictions as</a:t>
            </a:r>
          </a:p>
          <a:p>
            <a:r>
              <a:t>we go, because keeping those apart is the whole discipline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1:45]</a:t>
            </a:r>
          </a:p>
          <a:p>
            <a:r>
              <a:t>The obvious question — did fintech disrupt banking — is settled, so it isn't</a:t>
            </a:r>
          </a:p>
          <a:p>
            <a:r>
              <a:t>worth a project. The interesting question is whether there are two distinct</a:t>
            </a:r>
          </a:p>
          <a:p>
            <a:r>
              <a:t>regime changes: one where the first wave matured and stalled, and a second where</a:t>
            </a:r>
          </a:p>
          <a:p>
            <a:r>
              <a:t>AI-native finance is just switching on. If you treat fintech as a single</a:t>
            </a:r>
          </a:p>
          <a:p>
            <a:r>
              <a:t>continuous story you average those two together and misread both. So the whole</a:t>
            </a:r>
          </a:p>
          <a:p>
            <a:r>
              <a:t>project is engineered to separate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ends 3:00]</a:t>
            </a:r>
          </a:p>
          <a:p>
            <a:r>
              <a:t>Here's the reframing. Wave 1 is the 2010s fintech story — PayPal, Block,</a:t>
            </a:r>
          </a:p>
          <a:p>
            <a:r>
              <a:t>neobanks — who won on experience, not a new banking model, and after 2021</a:t>
            </a:r>
          </a:p>
          <a:p>
            <a:r>
              <a:t>gave the ground back. Wave 2 is AI-native finance, only really visible from</a:t>
            </a:r>
          </a:p>
          <a:p>
            <a:r>
              <a:t>2024. The catch that drives every honest caveat later: the Wave 2 companies are</a:t>
            </a:r>
          </a:p>
          <a:p>
            <a:r>
              <a:t>mostly private, so I can't price them the way I price Wave 1. The contribution</a:t>
            </a:r>
          </a:p>
          <a:p>
            <a:r>
              <a:t>is methodological — keep the waves separate and find each turning point on</a:t>
            </a:r>
          </a:p>
          <a:p>
            <a:r>
              <a:t>its own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ends 3:30]</a:t>
            </a:r>
          </a:p>
          <a:p>
            <a:r>
              <a:t>Quick roadmap. The talk walks the six tabs of the dashboard in order. One thing</a:t>
            </a:r>
          </a:p>
          <a:p>
            <a:r>
              <a:t>to watch throughout: I label each claim by confidence — Wave 1 findings are</a:t>
            </a:r>
          </a:p>
          <a:p>
            <a:r>
              <a:t>measured and I'll state them plainly; Wave 2 is thin and I'll flag it; and the</a:t>
            </a:r>
          </a:p>
          <a:p>
            <a:r>
              <a:t>'banks win' conclusion is an explicit prediction, not a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4:30]</a:t>
            </a:r>
          </a:p>
          <a:p>
            <a:r>
              <a:t>Stage one — data collection, the first tab. Four independent sources, all</a:t>
            </a:r>
          </a:p>
          <a:p>
            <a:r>
              <a:t>normalised to monthly. Prices and net income carry the Wave 1 market story;</a:t>
            </a:r>
          </a:p>
          <a:p>
            <a:r>
              <a:t>Google Trends spans both waves; SEC EDGAR full-text search is the Wave 2</a:t>
            </a:r>
          </a:p>
          <a:p>
            <a:r>
              <a:t>workhorse. I use four precisely because they fail differently and mean different</a:t>
            </a:r>
          </a:p>
          <a:p>
            <a:r>
              <a:t>things — a stock price is an expectation, a filing is a legally binding</a:t>
            </a:r>
          </a:p>
          <a:p>
            <a:r>
              <a:t>disclosure. The payoff comes at the convergence stage, when independent sources</a:t>
            </a:r>
          </a:p>
          <a:p>
            <a:r>
              <a:t>agree on the same turning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ends 5:15]</a:t>
            </a:r>
          </a:p>
          <a:p>
            <a:r>
              <a:t>The universe is seven names in three buckets: three legacy banks, two neobanks,</a:t>
            </a:r>
          </a:p>
          <a:p>
            <a:r>
              <a:t>two embedded-finance players. Three are foreign filers on 20-F, which I verified</a:t>
            </a:r>
          </a:p>
          <a:p>
            <a:r>
              <a:t>per company. It's deliberately small and entirely public — hold onto that,</a:t>
            </a:r>
          </a:p>
          <a:p>
            <a:r>
              <a:t>because the biggest honest limitation is that a private AI-native challenger</a:t>
            </a:r>
          </a:p>
          <a:p>
            <a:r>
              <a:t>simply cannot appear in a public-company sample. I address it directly with</a:t>
            </a:r>
          </a:p>
          <a:p>
            <a:r>
              <a:t>market-wide checks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ends 6:30]</a:t>
            </a:r>
          </a:p>
          <a:p>
            <a:r>
              <a:t>Before any index, the raw prices already tell the Wave 1 story. Everything is</a:t>
            </a:r>
          </a:p>
          <a:p>
            <a:r>
              <a:t>rebased to 100 at each company's start so wildly different price levels are</a:t>
            </a:r>
          </a:p>
          <a:p>
            <a:r>
              <a:t>comparable. Block ran up nearly 8x by 2021 and gave most of it back; PayPal is</a:t>
            </a:r>
          </a:p>
          <a:p>
            <a:r>
              <a:t>actually below its 2018 starting price — the only name here that is; and</a:t>
            </a:r>
          </a:p>
          <a:p>
            <a:r>
              <a:t>JPMorgan just compounded and is the best performer. The disruptors had a real,</a:t>
            </a:r>
          </a:p>
          <a:p>
            <a:r>
              <a:t>dramatic run. It didn't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7:30]</a:t>
            </a:r>
          </a:p>
          <a:p>
            <a:r>
              <a:t>2022 is the cleanest single snapshot. The three challengers posted losses the</a:t>
            </a:r>
          </a:p>
          <a:p>
            <a:r>
              <a:t>same year both banks' profits grew substantially. I wire this into the Wave 1</a:t>
            </a:r>
          </a:p>
          <a:p>
            <a:r>
              <a:t>sub-index as a relative-profitability-growth signal — fintech basket minus</a:t>
            </a:r>
          </a:p>
          <a:p>
            <a:r>
              <a:t>legacy basket. The fintechs did close the gap sharply in 2023-24 as several</a:t>
            </a:r>
          </a:p>
          <a:p>
            <a:r>
              <a:t>crossed back into profit, then gave it back in 2025. I'm upfront that this is</a:t>
            </a:r>
          </a:p>
          <a:p>
            <a:r>
              <a:t>thin: yfinance only exposes about four fiscal years, so it's three usable annual</a:t>
            </a:r>
          </a:p>
          <a:p>
            <a:r>
              <a:t>points, much thinner than the monthly price and search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8:30]</a:t>
            </a:r>
          </a:p>
          <a:p>
            <a:r>
              <a:t>Because the thesis is literally about market share, I don't want to lean only on</a:t>
            </a:r>
          </a:p>
          <a:p>
            <a:r>
              <a:t>stock price — a stock can fall while the business grows. So I compute</a:t>
            </a:r>
          </a:p>
          <a:p>
            <a:r>
              <a:t>fintech's share of the combined fintech-plus-bank revenue pool. It went from</a:t>
            </a:r>
          </a:p>
          <a:p>
            <a:r>
              <a:t>19.4% in 2022 to 20.3% in 2025 — essentially flat, even as the challengers</a:t>
            </a:r>
          </a:p>
          <a:p>
            <a:r>
              <a:t>returned to profit. So they stopped taking ground. That's a more direct read on</a:t>
            </a:r>
          </a:p>
          <a:p>
            <a:r>
              <a:t>the thesis than price, and it says Wave 1 has matured.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ends 9:75]</a:t>
            </a:r>
          </a:p>
          <a:p>
            <a:r>
              <a:t>The EDGAR layer is the strongest in the project because a filing is a legally</a:t>
            </a:r>
          </a:p>
          <a:p>
            <a:r>
              <a:t>binding disclosure, not marketing. I run two queries: the 'agentic' phrase</a:t>
            </a:r>
          </a:p>
          <a:p>
            <a:r>
              <a:t>family, which is Wave-2-specific, and plain 'artificial intelligence' as a</a:t>
            </a:r>
          </a:p>
          <a:p>
            <a:r>
              <a:t>saturated baseline. The agentic result is striking: zero mentions every year</a:t>
            </a:r>
          </a:p>
          <a:p>
            <a:r>
              <a:t>from 2019 through 2025 across all seven companies, then five filings in 2026.</a:t>
            </a:r>
          </a:p>
          <a:p>
            <a:r>
              <a:t>Seven years of silence, then a dated first appearance in binding disclosure.</a:t>
            </a:r>
          </a:p>
          <a:p>
            <a:r>
              <a:t>Real — but thin enough that I won't over-read it, which is exactly why I check</a:t>
            </a:r>
          </a:p>
          <a:p>
            <a:r>
              <a:t>it against the whole market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ends 11:00]</a:t>
            </a:r>
          </a:p>
          <a:p>
            <a:r>
              <a:t>Stage two builds the indices — the second tab, which recomputes live from the</a:t>
            </a:r>
          </a:p>
          <a:p>
            <a:r>
              <a:t>sliders. Everything is z-scored and resampled monthly, then averaged into two</a:t>
            </a:r>
          </a:p>
          <a:p>
            <a:r>
              <a:t>sub-indices: Wave 1 from price, search and profitability; Wave 2 from search and</a:t>
            </a:r>
          </a:p>
          <a:p>
            <a:r>
              <a:t>EDGAR intensity. The composite is just a weighted blend, default fifty-fifty,</a:t>
            </a:r>
          </a:p>
          <a:p>
            <a:r>
              <a:t>and you can move that weight in the app and watch everything downstream</a:t>
            </a:r>
          </a:p>
          <a:p>
            <a:r>
              <a:t>recompute.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12:00]</a:t>
            </a:r>
          </a:p>
          <a:p>
            <a:r>
              <a:t>Three methods choices make the later comparison fair. One: z-score every input,</a:t>
            </a:r>
          </a:p>
          <a:p>
            <a:r>
              <a:t>so a filing count and a stock price can actually be combined. Two: resample to</a:t>
            </a:r>
          </a:p>
          <a:p>
            <a:r>
              <a:t>monthly — the profitability signal is annual and much thinner, so I hold it</a:t>
            </a:r>
          </a:p>
          <a:p>
            <a:r>
              <a:t>at its nearest real value rather than collapsing the whole index down to three</a:t>
            </a:r>
          </a:p>
          <a:p>
            <a:r>
              <a:t>years. Three, and this matters for the next stage: I re-standardise each</a:t>
            </a:r>
          </a:p>
          <a:p>
            <a:r>
              <a:t>sub-index to unit variance after averaging, so the change-point penalty is</a:t>
            </a:r>
          </a:p>
          <a:p>
            <a:r>
              <a:t>comparable across waves even though they have different numbers of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13:00]</a:t>
            </a:r>
          </a:p>
          <a:p>
            <a:r>
              <a:t>An important point. It would be tempting to headline the single composite index.</a:t>
            </a:r>
          </a:p>
          <a:p>
            <a:r>
              <a:t>I deliberately don't, and the data shows why: the 2021 slowdown is robust in the</a:t>
            </a:r>
          </a:p>
          <a:p>
            <a:r>
              <a:t>Wave 1 sub-index but becomes fragile once you blend Wave 2 in. Blending literally</a:t>
            </a:r>
          </a:p>
          <a:p>
            <a:r>
              <a:t>weakens a real signal. So throughout, the two sub-indices are the unit of</a:t>
            </a:r>
          </a:p>
          <a:p>
            <a:r>
              <a:t>analysis and the composite is there to be transparent and tunable, not to be the</a:t>
            </a:r>
          </a:p>
          <a:p>
            <a:r>
              <a:t>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14:00]</a:t>
            </a:r>
          </a:p>
          <a:p>
            <a:r>
              <a:t>Stage three — turning points, the third tab. I use PELT change-point</a:t>
            </a:r>
          </a:p>
          <a:p>
            <a:r>
              <a:t>detection, but the trick is what I run it on: not the index level, but its</a:t>
            </a:r>
          </a:p>
          <a:p>
            <a:r>
              <a:t>12-month momentum. A regime change shows up as a handoff — the month where</a:t>
            </a:r>
          </a:p>
          <a:p>
            <a:r>
              <a:t>year-over-year growth flips sign. Each detected point gets a direction: slowdown</a:t>
            </a:r>
          </a:p>
          <a:p>
            <a:r>
              <a:t>or acceleration, which is more informative than just 'a break happened here.'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15:00]</a:t>
            </a:r>
          </a:p>
          <a:p>
            <a:r>
              <a:t>How do I know a turning point is real? An earlier version ran a Chow test, and I</a:t>
            </a:r>
          </a:p>
          <a:p>
            <a:r>
              <a:t>dropped it, honestly, for two reasons: the break date is estimated from the same</a:t>
            </a:r>
          </a:p>
          <a:p>
            <a:r>
              <a:t>data the test evaluates, which biases the p-value upward, and the momentum</a:t>
            </a:r>
          </a:p>
          <a:p>
            <a:r>
              <a:t>transform induces serial correlation that breaks the test's iid assumption.</a:t>
            </a:r>
          </a:p>
          <a:p>
            <a:r>
              <a:t>Instead I score each break for stability — and let me show exactly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16:00]</a:t>
            </a:r>
          </a:p>
          <a:p>
            <a:r>
              <a:t>Concretely, the stability score works like this. I take a grid of defensible</a:t>
            </a:r>
          </a:p>
          <a:p>
            <a:r>
              <a:t>parameter settings — the PELT penalty crossed with the momentum-window length,</a:t>
            </a:r>
          </a:p>
          <a:p>
            <a:r>
              <a:t>twenty combinations — and re-run the entire detection at every cell. The score</a:t>
            </a:r>
          </a:p>
          <a:p>
            <a:r>
              <a:t>is the fraction of cells that still find the same turning point. Above 70% I call</a:t>
            </a:r>
          </a:p>
          <a:p>
            <a:r>
              <a:t>robust, below 40% fragile. It needs no distributional assumptions and it's easy</a:t>
            </a:r>
          </a:p>
          <a:p>
            <a:r>
              <a:t>to defend. And it sets up the robustness agent later, which is just the</a:t>
            </a:r>
          </a:p>
          <a:p>
            <a:r>
              <a:t>qualitative version of this sweep.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ends 17:25]</a:t>
            </a:r>
          </a:p>
          <a:p>
            <a:r>
              <a:t>Here are the results. Wave 1 has a robust slowdown at April 2021 — it survives</a:t>
            </a:r>
          </a:p>
          <a:p>
            <a:r>
              <a:t>three-quarters of settings — and a partial rebound in mid-2025. Wave 2 has a</a:t>
            </a:r>
          </a:p>
          <a:p>
            <a:r>
              <a:t>very robust acceleration at June 2025, surviving 95% of settings. So you can</a:t>
            </a:r>
          </a:p>
          <a:p>
            <a:r>
              <a:t>literally see the handoff: Wave 1 rolling over as Wave 2 switches on. And I show</a:t>
            </a:r>
          </a:p>
          <a:p>
            <a:r>
              <a:t>the caveat rather than hide it — that 2021 slowdown is fragile in the blended</a:t>
            </a:r>
          </a:p>
          <a:p>
            <a:r>
              <a:t>composite, which is the concrete payoff of keeping the waves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ends 18:00]</a:t>
            </a:r>
          </a:p>
          <a:p>
            <a:r>
              <a:t>Stage four is robustness — the fourth tab, and it's where I try to break my</a:t>
            </a:r>
          </a:p>
          <a:p>
            <a:r>
              <a:t>own result. Five checks, each answering a specific objection: is it just these</a:t>
            </a:r>
          </a:p>
          <a:p>
            <a:r>
              <a:t>seven stocks; just these seven companies; just the 2022 growth selloff; does the</a:t>
            </a:r>
          </a:p>
          <a:p>
            <a:r>
              <a:t>keyword count mislead; and do the turning points depend on my parameter choices.</a:t>
            </a:r>
          </a:p>
          <a:p>
            <a:r>
              <a:t>Let me take them in 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19:00]</a:t>
            </a:r>
          </a:p>
          <a:p>
            <a:r>
              <a:t>First: does the price story generalise past seven names? I put a fintech-sector</a:t>
            </a:r>
          </a:p>
          <a:p>
            <a:r>
              <a:t>ETF against a bank-sector ETF. It peaked at 233 relative to banks in 2020 and</a:t>
            </a:r>
          </a:p>
          <a:p>
            <a:r>
              <a:t>fell to 56 by 2026, below where it started. My seven-ticker sample shows a bigger</a:t>
            </a:r>
          </a:p>
          <a:p>
            <a:r>
              <a:t>amplitude — peaked at 519 — but the same shape and the same turning point,</a:t>
            </a:r>
          </a:p>
          <a:p>
            <a:r>
              <a:t>found independently. So the rollover is a sector fact, not a picking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ends 20:25]</a:t>
            </a:r>
          </a:p>
          <a:p>
            <a:r>
              <a:t>Second, and the strongest single piece of evidence in the project: I run the</a:t>
            </a:r>
          </a:p>
          <a:p>
            <a:r>
              <a:t>same 'agentic' query across every 10-K filer, no company filter. Low single</a:t>
            </a:r>
          </a:p>
          <a:p>
            <a:r>
              <a:t>digits for six straight years — against tens of thousands of filers — then</a:t>
            </a:r>
          </a:p>
          <a:p>
            <a:r>
              <a:t>111 in 2025 and 388 in 2026. An eighteen-fold jump, the same shape as my sample,</a:t>
            </a:r>
          </a:p>
          <a:p>
            <a:r>
              <a:t>found completely independently. So the thinness of Wave 2 is genuinely early, not</a:t>
            </a:r>
          </a:p>
          <a:p>
            <a:r>
              <a:t>an artifact of picking seven companies.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21:25]</a:t>
            </a:r>
          </a:p>
          <a:p>
            <a:r>
              <a:t>Third, a macro objection: maybe fintech didn't underperform banks, maybe every</a:t>
            </a:r>
          </a:p>
          <a:p>
            <a:r>
              <a:t>growth stock sold off in 2022. So I benchmark the fintech basket against QQQ, the</a:t>
            </a:r>
          </a:p>
          <a:p>
            <a:r>
              <a:t>broad growth market — fintech still underperformed by about 37%, so it's</a:t>
            </a:r>
          </a:p>
          <a:p>
            <a:r>
              <a:t>fintech-specific. The honest nuance I keep in: against ARKK, the most speculative</a:t>
            </a:r>
          </a:p>
          <a:p>
            <a:r>
              <a:t>basket, fintech actually held up. It lost to mainstream growth and beat the</a:t>
            </a:r>
          </a:p>
          <a:p>
            <a:r>
              <a:t>riskiest bucket. I'd rather show that than pretend it's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22:25]</a:t>
            </a:r>
          </a:p>
          <a:p>
            <a:r>
              <a:t>Fourth check, and my favourite — this is an LLM doing something a regex</a:t>
            </a:r>
          </a:p>
          <a:p>
            <a:r>
              <a:t>structurally can't. The raw count says five incumbents disclose 'agentic'</a:t>
            </a:r>
          </a:p>
          <a:p>
            <a:r>
              <a:t>language, which sounds like the banks are leading. But counting can't tell apart</a:t>
            </a:r>
          </a:p>
          <a:p>
            <a:r>
              <a:t>three very different things a filing does with that word: is the company</a:t>
            </a:r>
          </a:p>
          <a:p>
            <a:r>
              <a:t>deploying it, exploring it, or naming it as a risk? So I have a model read each</a:t>
            </a:r>
          </a:p>
          <a:p>
            <a:r>
              <a:t>of the actual passages and classify it on that axis — and crucially, quote the</a:t>
            </a:r>
          </a:p>
          <a:p>
            <a:r>
              <a:t>exact sentence it relied on, so every label is checkable.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 · ends 24:00]</a:t>
            </a:r>
          </a:p>
          <a:p>
            <a:r>
              <a:t>Here's the result, and it reframes the whole disruption question. Look at the</a:t>
            </a:r>
          </a:p>
          <a:p>
            <a:r>
              <a:t>banks — JPMorgan, HSBC, Barclays — nearly every agentic mention is a risk</a:t>
            </a:r>
          </a:p>
          <a:p>
            <a:r>
              <a:t>disclosure: disintermediation, cyber exposure, liability. The only genuine</a:t>
            </a:r>
          </a:p>
          <a:p>
            <a:r>
              <a:t>deployment language comes from the two older fintechs, PayPal and Block, framing</a:t>
            </a:r>
          </a:p>
          <a:p>
            <a:r>
              <a:t>it as a growth play. So it's not 'banks ahead, fintechs behind' — it's two</a:t>
            </a:r>
          </a:p>
          <a:p>
            <a:r>
              <a:t>different postures. And here's the key interpretive move: the banks' risk-and-</a:t>
            </a:r>
          </a:p>
          <a:p>
            <a:r>
              <a:t>governance language doesn't read as fear or paralysis. It reads as discipline</a:t>
            </a:r>
          </a:p>
          <a:p>
            <a:r>
              <a:t>— name the risks, build the controls, then deploy. HSBC literally applies</a:t>
            </a:r>
          </a:p>
          <a:p>
            <a:r>
              <a:t>'heightened scrutiny before deployment.' That governance-first posture is exactly</a:t>
            </a:r>
          </a:p>
          <a:p>
            <a:r>
              <a:t>how a regulated incumbent absorbs a new technology without being disrupted by it.</a:t>
            </a:r>
          </a:p>
          <a:p>
            <a:r>
              <a:t>I'll build the verdict on that reading — and label it clearly as a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ends 24:75]</a:t>
            </a:r>
          </a:p>
          <a:p>
            <a:r>
              <a:t>Last robustness piece: a genuine tool-using agent. It's given one tool that</a:t>
            </a:r>
          </a:p>
          <a:p>
            <a:r>
              <a:t>recomputes the whole index and the turning points at any parameter setting, and</a:t>
            </a:r>
          </a:p>
          <a:p>
            <a:r>
              <a:t>it decides for itself which settings to probe. I'm upfront that this overlaps</a:t>
            </a:r>
          </a:p>
          <a:p>
            <a:r>
              <a:t>with the deterministic stability grid — the grid already sweeps that space.</a:t>
            </a:r>
          </a:p>
          <a:p>
            <a:r>
              <a:t>Its value is demonstrative: a live reasoning agent you can watch red-team the</a:t>
            </a:r>
          </a:p>
          <a:p>
            <a:r>
              <a:t>result, not a new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25:75]</a:t>
            </a:r>
          </a:p>
          <a:p>
            <a:r>
              <a:t>Stage five pulls it together — the convergence tab. I put every signal on one</a:t>
            </a:r>
          </a:p>
          <a:p>
            <a:r>
              <a:t>z-scored, smoothed scale. Price, search, filings, profitability — they all</a:t>
            </a:r>
          </a:p>
          <a:p>
            <a:r>
              <a:t>bend at the same two moments: around 2021 for Wave 1, around 2024-25 for Wave 2.</a:t>
            </a:r>
          </a:p>
          <a:p>
            <a:r>
              <a:t>No single proxy proves anything; the argument is that four sources with</a:t>
            </a:r>
          </a:p>
          <a:p>
            <a:r>
              <a:t>completely different failure modes agree on the same two turning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ends 26:50]</a:t>
            </a:r>
          </a:p>
          <a:p>
            <a:r>
              <a:t>It's worth being explicit about why convergence carries so much weight here. Each</a:t>
            </a:r>
          </a:p>
          <a:p>
            <a:r>
              <a:t>proxy on its own is weak and easy to poke at. But their weaknesses are</a:t>
            </a:r>
          </a:p>
          <a:p>
            <a:r>
              <a:t>unrelated — there's no reason a Google Trends artifact and an SEC filing</a:t>
            </a:r>
          </a:p>
          <a:p>
            <a:r>
              <a:t>artifact would happen to line up on the same two dates. So when they do agree,</a:t>
            </a:r>
          </a:p>
          <a:p>
            <a:r>
              <a:t>that agreement is genuinely informative in a way no single series could be. That</a:t>
            </a:r>
          </a:p>
          <a:p>
            <a:r>
              <a:t>triangulation is the backbone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 · ends 27:75]</a:t>
            </a:r>
          </a:p>
          <a:p>
            <a:r>
              <a:t>The verdict — the last tab — is three claims at three confidence levels, and</a:t>
            </a:r>
          </a:p>
          <a:p>
            <a:r>
              <a:t>keeping them distinct is the whole discipline. One: Wave 1 has effectively ended</a:t>
            </a:r>
          </a:p>
          <a:p>
            <a:r>
              <a:t>— measured across price, profitability and market share, high confidence. Two:</a:t>
            </a:r>
          </a:p>
          <a:p>
            <a:r>
              <a:t>Wave 2 is too early to call — the evidence is thin, but it's a real early</a:t>
            </a:r>
          </a:p>
          <a:p>
            <a:r>
              <a:t>inflection, not absence. Three, which I label clearly as a prediction: banks</a:t>
            </a:r>
          </a:p>
          <a:p>
            <a:r>
              <a:t>likely absorb the AI wave. Let me spend a moment on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· ends 29:25]</a:t>
            </a:r>
          </a:p>
          <a:p>
            <a:r>
              <a:t>Here's the synthesis, and it's the heart of my conclusion. The two camps aren't</a:t>
            </a:r>
          </a:p>
          <a:p>
            <a:r>
              <a:t>'fintechs ahead, banks behind.' They're two strategies. The fintechs are</a:t>
            </a:r>
          </a:p>
          <a:p>
            <a:r>
              <a:t>deploying AI to attract customers. The banks are treating AI as a large risk that</a:t>
            </a:r>
          </a:p>
          <a:p>
            <a:r>
              <a:t>must be governed before it ships — and I read that as discipline, not slowness.</a:t>
            </a:r>
          </a:p>
          <a:p>
            <a:r>
              <a:t>Name the risks, build the controls, then deploy. That is precisely how a</a:t>
            </a:r>
          </a:p>
          <a:p>
            <a:r>
              <a:t>regulated incumbent absorbs a new technology without being disrupted by it. Add</a:t>
            </a:r>
          </a:p>
          <a:p>
            <a:r>
              <a:t>that banks have the profits to fund it and the stronger incentive to get</a:t>
            </a:r>
          </a:p>
          <a:p>
            <a:r>
              <a:t>governance right, and the prediction is: if banks adopt AI under proper</a:t>
            </a:r>
          </a:p>
          <a:p>
            <a:r>
              <a:t>governance and make sure it's used correctly, fintech's AI push may never become</a:t>
            </a:r>
          </a:p>
          <a:p>
            <a:r>
              <a:t>a second Wave 1. I label it a prediction — and the one thing that would break</a:t>
            </a:r>
          </a:p>
          <a:p>
            <a:r>
              <a:t>it is the private, AI-native challenger this public sample can't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ends 29:75]</a:t>
            </a:r>
          </a:p>
          <a:p>
            <a:r>
              <a:t>Briefly — there's a grounded AI assistant in the app. The point isn't that</a:t>
            </a:r>
          </a:p>
          <a:p>
            <a:r>
              <a:t>it's a chatbot; it's that it's wired to the live-recomputed numbers, so it can</a:t>
            </a:r>
          </a:p>
          <a:p>
            <a:r>
              <a:t>only cite figures actually in front of it and it preserves the project's own</a:t>
            </a:r>
          </a:p>
          <a:p>
            <a:r>
              <a:t>confidence levels. It can't overclaim Wave 2 or present the prediction as a</a:t>
            </a:r>
          </a:p>
          <a:p>
            <a:r>
              <a:t>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 · ends 30:75]</a:t>
            </a:r>
          </a:p>
          <a:p>
            <a:r>
              <a:t>The limitations, stated plainly because that's the point of the project.</a:t>
            </a:r>
          </a:p>
          <a:p>
            <a:r>
              <a:t>Everything here is a proxy. The Wave 2 window is only about two years. The sample</a:t>
            </a:r>
          </a:p>
          <a:p>
            <a:r>
              <a:t>is public-only, so a fast private challenger is invisible by construction. And</a:t>
            </a:r>
          </a:p>
          <a:p>
            <a:r>
              <a:t>the two AI-driven pieces — the Part 3 prediction and the stance classification</a:t>
            </a:r>
          </a:p>
          <a:p>
            <a:r>
              <a:t>— are explicitly a prediction and one model's read of nineteen passages, not</a:t>
            </a:r>
          </a:p>
          <a:p>
            <a:r>
              <a:t>statistics. I'd rather you trust the Wave 1 result precisely because I'm this</a:t>
            </a:r>
          </a:p>
          <a:p>
            <a:r>
              <a:t>careful about the 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 · ends 31:50]</a:t>
            </a:r>
          </a:p>
          <a:p>
            <a:r>
              <a:t>To close. Fintech didn't die, and AI hasn't clearly disrupted anything — yet.</a:t>
            </a:r>
          </a:p>
          <a:p>
            <a:r>
              <a:t>Wave 1 was largely reabsorbed by the banks it threatened. Wave 2 is a real but</a:t>
            </a:r>
          </a:p>
          <a:p>
            <a:r>
              <a:t>early inflection, and it's split by posture — fintechs deploying, banks</a:t>
            </a:r>
          </a:p>
          <a:p>
            <a:r>
              <a:t>governing. If there's one takeaway, it's the method: separate the two waves,</a:t>
            </a:r>
          </a:p>
          <a:p>
            <a:r>
              <a:t>because they run on different clocks and blending them misreads both. Thank you</a:t>
            </a:r>
          </a:p>
          <a:p>
            <a:r>
              <a:t>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" y="603504"/>
            <a:ext cx="256032" cy="100584"/>
          </a:xfrm>
          <a:prstGeom prst="rect">
            <a:avLst/>
          </a:prstGeom>
          <a:solidFill>
            <a:srgbClr val="28B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27048" y="54864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80">
                <a:solidFill>
                  <a:srgbClr val="A7B2BE"/>
                </a:solidFill>
                <a:latin typeface="Arial"/>
              </a:rPr>
              <a:t>FINTECH · TWO-WAVE DISRUPTION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10241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700" b="1" i="0">
                <a:solidFill>
                  <a:srgbClr val="EAEFF3"/>
                </a:solidFill>
                <a:latin typeface="Arial"/>
              </a:rPr>
              <a:t>Has fintech disruption run its course — or is a second, AI-native wave only now beginning?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A7B2BE"/>
                </a:solidFill>
                <a:latin typeface="Arial"/>
              </a:rPr>
              <a:t>An empirical test that splits fintech disruption into </a:t>
            </a:r>
            <a:r>
              <a:rPr sz="1700" b="1" i="0">
                <a:solidFill>
                  <a:srgbClr val="D98A3D"/>
                </a:solidFill>
                <a:latin typeface="Arial"/>
              </a:rPr>
              <a:t>two separate turning points</a:t>
            </a:r>
            <a:r>
              <a:rPr sz="1700" b="0" i="0">
                <a:solidFill>
                  <a:srgbClr val="A7B2BE"/>
                </a:solidFill>
                <a:latin typeface="Arial"/>
              </a:rPr>
              <a:t>, not one 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8932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100">
                <a:solidFill>
                  <a:srgbClr val="A7B2BE"/>
                </a:solidFill>
                <a:latin typeface="Arial"/>
              </a:rPr>
              <a:t>Kai Tee  · 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2A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7B2BE"/>
                </a:solidFill>
                <a:latin typeface="Arial"/>
              </a:rPr>
              <a:t>01 / 31</a:t>
            </a:r>
            <a:r>
              <a:rPr sz="1050" b="0" i="0">
                <a:solidFill>
                  <a:srgbClr val="A7B2BE"/>
                </a:solidFill>
                <a:latin typeface="Arial"/>
              </a:rPr>
              <a:t>    ·    ends ~0:45    ·    Fintech Two-Wave Disruption Index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The trivial question has a boring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9199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Did fintech disrupt banking?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Yes. Everyone knows this — it isn't a thesis.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The real question: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are there two separate turning points, on different timelines?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Wave 1 — maturation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of payments, neobanks, embedded finance (~2010–2021).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Wave 2 — onset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of AI-native underwriting &amp; advisory (~2024–).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Blending them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into one story misattributes what's actually happening in the data.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02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~1:45    ·    Fintech Two-Wave Disruption 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THE REFRAMING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Two waves, two clocks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92608" cy="100584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67128"/>
            <a:ext cx="502599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B26D2A"/>
                </a:solidFill>
                <a:latin typeface="Arial"/>
              </a:rPr>
              <a:t>Wave 1  ·  2010–2021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Won on UX,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not a fundamentally different banking model.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Turned unprofitable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after 2021 as rates rose and banks' earnings recovered.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Banks reclaimed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 pricing power and share fintech briefly took.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965960"/>
            <a:ext cx="292608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2167128"/>
            <a:ext cx="502599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A8C80"/>
                </a:solidFill>
                <a:latin typeface="Arial"/>
              </a:rPr>
              <a:t>Wave 2  ·  2024–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AI-native finance: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agentic underwriting &amp; advisory.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Mostly private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or too newly public for real market data.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Thin but real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early signal — the thinness is itself the finding.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6928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Contribution: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measure each wave's turning point </a:t>
            </a:r>
            <a:r>
              <a:rPr sz="1550" b="1" i="0">
                <a:solidFill>
                  <a:srgbClr val="0A8C80"/>
                </a:solidFill>
                <a:latin typeface="Arial"/>
              </a:rPr>
              <a:t>independently</a:t>
            </a:r>
            <a:r>
              <a:rPr sz="1550" b="0" i="0">
                <a:solidFill>
                  <a:srgbClr val="46525D"/>
                </a:solidFill>
                <a:latin typeface="Arial"/>
              </a:rPr>
              <a:t> — don't blend them into one index and read that.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03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~3:00    ·    Fintech Two-Wave Disruption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HOW TO READ THIS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Six stages — the same order as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9199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1 · Data Collection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four independent sources, normalised to monthly.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2 · Index Construction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two sub-indices + a composite, recomputed live.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3 · Turning Points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PELT change-points, scored for stability.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4 · Robustness Checks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does it survive beyond the sample and the method?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5 · Converging Evidence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independent signals on one scale.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6 · Verdict &amp; Assistant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three claims at three confidence levels.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04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~3:30    ·    Fintech Two-Wave Disruption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1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Four independent sources, one monthly frequency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2011680"/>
          <a:ext cx="10509199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3108960"/>
                <a:gridCol w="4114800"/>
                <a:gridCol w="816559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Script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Wave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Market prices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6525D"/>
                          </a:solidFill>
                          <a:latin typeface="Courier New"/>
                        </a:rPr>
                        <a:t>collect_market_data.py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fintech-vs-legacy relative strength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B26D2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Net income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6525D"/>
                          </a:solidFill>
                          <a:latin typeface="Courier New"/>
                        </a:rPr>
                        <a:t>collect_market_data.py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relative profitability growth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B26D2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Google Trends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6525D"/>
                          </a:solidFill>
                          <a:latin typeface="Courier New"/>
                        </a:rPr>
                        <a:t>collect_trends.py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search interest per keyword group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46525D"/>
                          </a:solidFill>
                          <a:latin typeface="Arial"/>
                        </a:rPr>
                        <a:t>1 &amp; 2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SEC EDGAR filings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46525D"/>
                          </a:solidFill>
                          <a:latin typeface="Courier New"/>
                        </a:rPr>
                        <a:t>collect_edgar.py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AI-language intensity per filing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A8C8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502920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Independence is the point: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four sources with different failure modes. Price reflects expectations, search reflects attention, filings carry legal weight, net income is a realized outcome. When they agree, that agreement is the argument.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05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~4:30    ·    Fintech Two-Wave Disruption Index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1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A 7-company universe, split three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292608" cy="100584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12848"/>
            <a:ext cx="50259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B26D2A"/>
                </a:solidFill>
                <a:latin typeface="Arial"/>
              </a:rPr>
              <a:t>Legacy banks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JPM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JPMorgan Chase  ·  10-K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HSBC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HSBC Holdings  ·  20-F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BCS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Barclays  ·  20-F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2011680"/>
            <a:ext cx="292608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2212848"/>
            <a:ext cx="50259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A8C80"/>
                </a:solidFill>
                <a:latin typeface="Arial"/>
              </a:rPr>
              <a:t>Challengers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SOFI / NU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neobanks — SoFi, Nubank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PYPL / XYZ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embedded finance — PayPal, Block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20-F filers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HSBC, Barclays, Nubank are foreign private issuers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34924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Small, hand-picked, all public by design —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which is exactly why Wave 2's private challengers stay invisible. That limit is confronted head-on in the robustness stage.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06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~5:15    ·    Fintech Two-Wave Disruption Index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1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Price evidence: the disruptors' run didn't hold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965960"/>
          <a:ext cx="10509199" cy="2788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20"/>
                <a:gridCol w="2743200"/>
                <a:gridCol w="3108960"/>
                <a:gridCol w="2096719"/>
              </a:tblGrid>
              <a:tr h="4648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Ticker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Peak (indexed to 100)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EAEFF3"/>
                          </a:solidFill>
                          <a:latin typeface="Arial"/>
                        </a:rPr>
                        <a:t>Latest 2026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XYZ · Block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embedded finance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779  (Aug 2021)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PYPL · PayPal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embedded finance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418  (Jul 2021)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62  (below start)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SOFI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neobank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264  (Nov 2025)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JPM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traditional bank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steady climb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389  (best)</a:t>
                      </a:r>
                    </a:p>
                  </a:txBody>
                  <a:tcPr marL="128016" marR="73152" marT="45720" marB="45720" anchor="ctr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2181F"/>
                          </a:solidFill>
                          <a:latin typeface="Arial"/>
                        </a:rPr>
                        <a:t>HSBC / BCS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traditional bank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steady climb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46525D"/>
                          </a:solidFill>
                          <a:latin typeface="Arial"/>
                        </a:rPr>
                        <a:t>299 / 335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" y="502920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Rebased to 100 at each ticker's start.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Block ran up ~8×, PayPal &gt;4× — then gave it back; PayPal is the only name below its own 2018 start. Banks barely joined the 2021 boom and have compounded since.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07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~6:30    ·    Fintech Two-Wave Disruption 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1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Profitability: the 2022 split was the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40">
                <a:solidFill>
                  <a:srgbClr val="7A8590"/>
                </a:solidFill>
                <a:latin typeface="Arial"/>
              </a:rPr>
              <a:t>Net income — the year challengers lost money while banks' profits grew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31720"/>
            <a:ext cx="192627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1" i="0">
                <a:solidFill>
                  <a:srgbClr val="C1443B"/>
                </a:solidFill>
                <a:latin typeface="Arial"/>
              </a:rPr>
              <a:t>−$320M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6525D"/>
                </a:solidFill>
                <a:latin typeface="Arial"/>
              </a:rPr>
              <a:t>SOFI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6979" y="2331720"/>
            <a:ext cx="192627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1" i="0">
                <a:solidFill>
                  <a:srgbClr val="C1443B"/>
                </a:solidFill>
                <a:latin typeface="Arial"/>
              </a:rPr>
              <a:t>−$541M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6525D"/>
                </a:solidFill>
                <a:latin typeface="Arial"/>
              </a:rPr>
              <a:t>Block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2710" y="2331720"/>
            <a:ext cx="192627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1" i="0">
                <a:solidFill>
                  <a:srgbClr val="C1443B"/>
                </a:solidFill>
                <a:latin typeface="Arial"/>
              </a:rPr>
              <a:t>−$365M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6525D"/>
                </a:solidFill>
                <a:latin typeface="Arial"/>
              </a:rPr>
              <a:t>Nubank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441" y="2331720"/>
            <a:ext cx="192627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1" i="0">
                <a:solidFill>
                  <a:srgbClr val="2E8B4E"/>
                </a:solidFill>
                <a:latin typeface="Arial"/>
              </a:rPr>
              <a:t>+$37.7B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6525D"/>
                </a:solidFill>
                <a:latin typeface="Arial"/>
              </a:rPr>
              <a:t>JPM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24172" y="2331720"/>
            <a:ext cx="1926275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2300" b="1" i="0">
                <a:solidFill>
                  <a:srgbClr val="2E8B4E"/>
                </a:solidFill>
                <a:latin typeface="Arial"/>
              </a:rPr>
              <a:t>+$15.6B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46525D"/>
                </a:solidFill>
                <a:latin typeface="Arial"/>
              </a:rPr>
              <a:t>HSBC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94760"/>
            <a:ext cx="10509199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B26D2A"/>
                </a:solidFill>
                <a:latin typeface="Arial"/>
              </a:rPr>
              <a:t>—  </a:t>
            </a:r>
            <a:r>
              <a:rPr sz="1500" b="1" i="0">
                <a:solidFill>
                  <a:srgbClr val="12181F"/>
                </a:solidFill>
                <a:latin typeface="Arial"/>
              </a:rPr>
              <a:t>Wired into the Wave 1 index  </a:t>
            </a:r>
            <a:r>
              <a:rPr sz="1500" b="0" i="0">
                <a:solidFill>
                  <a:srgbClr val="46525D"/>
                </a:solidFill>
                <a:latin typeface="Arial"/>
              </a:rPr>
              <a:t>as a profitability signal (fintech-minus-legacy YoY growth).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900"/>
              </a:spcAft>
            </a:pPr>
            <a:r>
              <a:rPr sz="1500" b="1" i="0">
                <a:solidFill>
                  <a:srgbClr val="B26D2A"/>
                </a:solidFill>
                <a:latin typeface="Arial"/>
              </a:rPr>
              <a:t>—  </a:t>
            </a:r>
            <a:r>
              <a:rPr sz="1500" b="1" i="0">
                <a:solidFill>
                  <a:srgbClr val="12181F"/>
                </a:solidFill>
                <a:latin typeface="Arial"/>
              </a:rPr>
              <a:t>Fintechs closed the gap  </a:t>
            </a:r>
            <a:r>
              <a:rPr sz="1500" b="0" i="0">
                <a:solidFill>
                  <a:srgbClr val="46525D"/>
                </a:solidFill>
                <a:latin typeface="Arial"/>
              </a:rPr>
              <a:t>sharply in fiscal 2023–24 (+0.97, +1.03), then gave it back in 2025 (−0.06).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900"/>
              </a:spcAft>
            </a:pPr>
            <a:r>
              <a:rPr sz="1500" b="1" i="0">
                <a:solidFill>
                  <a:srgbClr val="B26D2A"/>
                </a:solidFill>
                <a:latin typeface="Arial"/>
              </a:rPr>
              <a:t>—  </a:t>
            </a:r>
            <a:r>
              <a:rPr sz="1500" b="1" i="0">
                <a:solidFill>
                  <a:srgbClr val="12181F"/>
                </a:solidFill>
                <a:latin typeface="Arial"/>
              </a:rPr>
              <a:t>Thin by construction:  </a:t>
            </a:r>
            <a:r>
              <a:rPr sz="1500" b="0" i="0">
                <a:solidFill>
                  <a:srgbClr val="46525D"/>
                </a:solidFill>
                <a:latin typeface="Arial"/>
              </a:rPr>
              <a:t>yfinance exposes only ~4 fiscal years — 3 usable growth points.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08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~7:30    ·    Fintech Two-Wave Disruption Index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1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Market-share proxy: the most direct 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11680"/>
            <a:ext cx="333237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4630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B26D2A"/>
                </a:solidFill>
                <a:latin typeface="Arial"/>
              </a:rPr>
              <a:t>19.4%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2181F"/>
                </a:solidFill>
                <a:latin typeface="Arial"/>
              </a:rPr>
              <a:t>Fintech share · 2022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A8590"/>
                </a:solidFill>
                <a:latin typeface="Arial"/>
              </a:rPr>
              <a:t>of the fintech + bank revenue pool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011680"/>
            <a:ext cx="82296" cy="150876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29658" y="2011680"/>
            <a:ext cx="333237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4630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B26D2A"/>
                </a:solidFill>
                <a:latin typeface="Arial"/>
              </a:rPr>
              <a:t>20.3%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2181F"/>
                </a:solidFill>
                <a:latin typeface="Arial"/>
              </a:rPr>
              <a:t>Fintech share · 2025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A8590"/>
                </a:solidFill>
                <a:latin typeface="Arial"/>
              </a:rPr>
              <a:t>essentially flat over four years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011680"/>
            <a:ext cx="82296" cy="150876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8068" y="2011680"/>
            <a:ext cx="333237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4630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7A8590"/>
                </a:solidFill>
                <a:latin typeface="Arial"/>
              </a:rPr>
              <a:t>≈ flat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2181F"/>
                </a:solidFill>
                <a:latin typeface="Arial"/>
              </a:rPr>
              <a:t>Net change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A8590"/>
                </a:solidFill>
                <a:latin typeface="Arial"/>
              </a:rPr>
              <a:t>even as challengers returned to profit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8068" y="2011680"/>
            <a:ext cx="82296" cy="1508760"/>
          </a:xfrm>
          <a:prstGeom prst="rect">
            <a:avLst/>
          </a:prstGeom>
          <a:solidFill>
            <a:srgbClr val="7A8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77639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Why this matters: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the thesis question is literally about market share, which a stock price only proxies — a stock can fall while the business keeps growing. Revenue share is the direct 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82296" cy="114300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489204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12181F"/>
                </a:solidFill>
                <a:latin typeface="Georgia"/>
              </a:rPr>
              <a:t>They stopped taking ground. That is “Wave 1 has matured,” in one number.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09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~8:30    ·    Fintech Two-Wave Disruption Index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1 ·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SEC EDGAR: the strongest evidence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92608" cy="100584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67128"/>
            <a:ext cx="502599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B26D2A"/>
                </a:solidFill>
                <a:latin typeface="Arial"/>
              </a:rPr>
              <a:t>Two full-text queries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"agentic"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 AI-agent phrase family — Wave-2-specific, near-zero until it isn't.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"artificial intelligence"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 saturated baseline, already common by 2019.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Regulatory disclosure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carries legal weight a press release doesn't.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965960"/>
            <a:ext cx="292608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2167128"/>
            <a:ext cx="502599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A8C80"/>
                </a:solidFill>
                <a:latin typeface="Arial"/>
              </a:rPr>
              <a:t>The agentic signal (7 companies)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2019–2025: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zero every single year.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2026: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5 filings — JPM, HSBC, Barclays, PayPal, Block.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A real, dated first appearance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in legally binding disclosure — but still thin.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10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~9:45    ·    Fintech Two-Wave Disruption Index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2 · INDEX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From four signals to two sub-indices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9199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B26D2A"/>
                </a:solidFill>
                <a:latin typeface="Arial"/>
              </a:rPr>
              <a:t>Wave 1 sub-index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46525D"/>
                </a:solidFill>
                <a:latin typeface="Arial"/>
              </a:rPr>
              <a:t>z(market relative strength)  +  z(Wave-1 search)  +  z(relative profitability growth)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A8C80"/>
                </a:solidFill>
                <a:latin typeface="Arial"/>
              </a:rPr>
              <a:t>Wave 2 sub-index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 i="0">
                <a:solidFill>
                  <a:srgbClr val="46525D"/>
                </a:solidFill>
                <a:latin typeface="Arial"/>
              </a:rPr>
              <a:t>z(Wave-2 search)  +  z(EDGAR AI-language intensity)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2181F"/>
                </a:solidFill>
                <a:latin typeface="Arial"/>
              </a:rPr>
              <a:t>Composite FDI</a:t>
            </a:r>
          </a:p>
          <a:p>
            <a:pPr algn="l">
              <a:lnSpc>
                <a:spcPct val="114999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6525D"/>
                </a:solidFill>
                <a:latin typeface="Courier New"/>
              </a:rPr>
              <a:t>W1 · wave1  +  (1 − W1) · wave2</a:t>
            </a:r>
            <a:r>
              <a:rPr sz="1500" b="0" i="0">
                <a:solidFill>
                  <a:srgbClr val="46525D"/>
                </a:solidFill>
                <a:latin typeface="Arial"/>
              </a:rPr>
              <a:t>     — weight is a live slider; default 50 / 50.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4924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All three recompute live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from the sidebar in the dashboard — nothing here is a static picture.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11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~11:00    ·    Fintech Two-Wave Disruption Index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2 · INDEX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The methods that make the comparison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00" b="1" i="0">
                <a:solidFill>
                  <a:srgbClr val="12181F"/>
                </a:solidFill>
                <a:latin typeface="Arial"/>
              </a:rPr>
              <a:t>Z-score every input  </a:t>
            </a:r>
            <a:r>
              <a:rPr sz="1600" b="0" i="0">
                <a:solidFill>
                  <a:srgbClr val="46525D"/>
                </a:solidFill>
                <a:latin typeface="Arial"/>
              </a:rPr>
              <a:t>so signals on wildly different scales (price vs. filing counts) combine sensibly.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6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00" b="1" i="0">
                <a:solidFill>
                  <a:srgbClr val="12181F"/>
                </a:solidFill>
                <a:latin typeface="Arial"/>
              </a:rPr>
              <a:t>Resample to monthly  </a:t>
            </a:r>
            <a:r>
              <a:rPr sz="1600" b="0" i="0">
                <a:solidFill>
                  <a:srgbClr val="46525D"/>
                </a:solidFill>
                <a:latin typeface="Arial"/>
              </a:rPr>
              <a:t>matching the index's resolution; the annual profitability signal is held at its nearest real value rather than shrinking the whole date range.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6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00" b="1" i="0">
                <a:solidFill>
                  <a:srgbClr val="12181F"/>
                </a:solidFill>
                <a:latin typeface="Arial"/>
              </a:rPr>
              <a:t>Re-standardise each sub-index to unit variance  </a:t>
            </a:r>
            <a:r>
              <a:rPr sz="1600" b="0" i="0">
                <a:solidFill>
                  <a:srgbClr val="46525D"/>
                </a:solidFill>
                <a:latin typeface="Arial"/>
              </a:rPr>
              <a:t>after averaging — so the break-detection penalty means the same thing whether a wave averages two inputs or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12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~12:00    ·    Fintech Two-Wave Disruption Index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2 · INDEX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Why the composite is not 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9199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The waves run on different clocks.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Averaging them buries the signal I'm trying to isolate.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Concretely: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the composite's April-2021 slowdown is fragile, even though it's robust in Wave 1 alone.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So the sub-indices,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not the blended FDI, are the unit of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977639"/>
            <a:ext cx="82296" cy="173736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3977639"/>
            <a:ext cx="100519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12181F"/>
                </a:solidFill>
                <a:latin typeface="Georgia"/>
              </a:rPr>
              <a:t>Wave 1 and Wave 2 run on different dynamics and different timelines; blending them risks misattributing what's actually happening.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120">
                <a:solidFill>
                  <a:srgbClr val="7A8590"/>
                </a:solidFill>
                <a:latin typeface="Arial"/>
              </a:rPr>
              <a:t>— the project's central methodological stance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13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~13:00    ·    Fintech Two-Wave Disruption Index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3 · TURNING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Finding turning points: PELT on 12-month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Change-point detection (PELT)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on each sub-index, via the ruptures library.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Run on momentum, not level: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the trailing 12-month change, so we catch the handoff from rising to falling.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Each break is labelled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with a direction — slowdown or acceleration.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97680"/>
            <a:ext cx="105091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6525D"/>
                </a:solidFill>
                <a:latin typeface="Arial"/>
              </a:rPr>
              <a:t>Momentum is the right object: a wave doesn't announce itself when the level is highest, but at the </a:t>
            </a:r>
            <a:r>
              <a:rPr sz="1550" b="0" i="1">
                <a:solidFill>
                  <a:srgbClr val="12181F"/>
                </a:solidFill>
                <a:latin typeface="Georgia"/>
              </a:rPr>
              <a:t>inflection</a:t>
            </a:r>
            <a:r>
              <a:rPr sz="1550" b="0" i="0">
                <a:solidFill>
                  <a:srgbClr val="46525D"/>
                </a:solidFill>
                <a:latin typeface="Arial"/>
              </a:rPr>
              <a:t> — the month rising turns into falling.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14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~14:00    ·    Fintech Two-Wave Disruption Index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3 · TURNING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Stability, not statistical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92608" cy="100584"/>
          </a:xfrm>
          <a:prstGeom prst="rect">
            <a:avLst/>
          </a:prstGeom>
          <a:solidFill>
            <a:srgbClr val="7A85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167128"/>
            <a:ext cx="50259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7A8590"/>
                </a:solidFill>
                <a:latin typeface="Arial"/>
              </a:rPr>
              <a:t>Why not a Chow test?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Pre-test bias: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 break date is estimated from the same data the test then evaluates.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Serial correlation: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 momentum transform violates the test's iid assumption.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Result: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p-values that overstate significance.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965960"/>
            <a:ext cx="292608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2167128"/>
            <a:ext cx="50259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A8C80"/>
                </a:solidFill>
                <a:latin typeface="Arial"/>
              </a:rPr>
              <a:t>The stability score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Re-run detection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across a grid of penalties × momentum windows.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Score =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 share of settings that recover the same break.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No distributional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assumptions; defensible to a non-technical audience.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5440680"/>
            <a:ext cx="82296" cy="1143000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54406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 i="1">
                <a:solidFill>
                  <a:srgbClr val="12181F"/>
                </a:solidFill>
                <a:latin typeface="Georgia"/>
              </a:rPr>
              <a:t>“This turning point holds no matter how we set the knobs” beats “F = 17.3.”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15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~15:00    ·    Fintech Two-Wave Disruption Index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3 · TURNING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How the stability score is computed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Take a grid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of defensible settings: PELT penalty × momentum-window length.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Re-run the whole detection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at every cell in the grid (20 combinations).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Count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the share of cells that recover the same turning point (± a small window).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Robust ≥ 70%,  moderate 40–70%,  fragile &lt; 40%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— a plain, reproducible reliability 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93776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The robustness agent, later,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is the qualitative version of this same sweep — an LLM choosing which cells to probe instead of gridding them exhaustively.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16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~16:00    ·    Fintech Two-Wave Disruption Index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3 · TURNING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The two turning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11680"/>
            <a:ext cx="333237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4630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B26D2A"/>
                </a:solidFill>
                <a:latin typeface="Arial"/>
              </a:rPr>
              <a:t>Apr 2021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2181F"/>
                </a:solidFill>
                <a:latin typeface="Arial"/>
              </a:rPr>
              <a:t>Wave 1 slowdown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A8590"/>
                </a:solidFill>
                <a:latin typeface="Arial"/>
              </a:rPr>
              <a:t>robust · 75% (15/20)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011680"/>
            <a:ext cx="82296" cy="155448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29658" y="2011680"/>
            <a:ext cx="333237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4630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A8C80"/>
                </a:solidFill>
                <a:latin typeface="Arial"/>
              </a:rPr>
              <a:t>Jun 2025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2181F"/>
                </a:solidFill>
                <a:latin typeface="Arial"/>
              </a:rPr>
              <a:t>Wave 2 acceleration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A8590"/>
                </a:solidFill>
                <a:latin typeface="Arial"/>
              </a:rPr>
              <a:t>very robust · 95% (19/20)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011680"/>
            <a:ext cx="82296" cy="1554480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8068" y="2011680"/>
            <a:ext cx="333237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4630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B26D2A"/>
                </a:solidFill>
                <a:latin typeface="Arial"/>
              </a:rPr>
              <a:t>Jun 2025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12181F"/>
                </a:solidFill>
                <a:latin typeface="Arial"/>
              </a:rPr>
              <a:t>Wave 1 rebound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7A8590"/>
                </a:solidFill>
                <a:latin typeface="Arial"/>
              </a:rPr>
              <a:t>robust · 70% (14/20)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8068" y="2011680"/>
            <a:ext cx="82296" cy="155448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023360"/>
            <a:ext cx="1050919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0" i="0">
                <a:solidFill>
                  <a:srgbClr val="12181F"/>
                </a:solidFill>
                <a:latin typeface="Arial"/>
              </a:rPr>
              <a:t>The handoff is visible: </a:t>
            </a:r>
            <a:r>
              <a:rPr sz="1550" b="1" i="0">
                <a:solidFill>
                  <a:srgbClr val="B26D2A"/>
                </a:solidFill>
                <a:latin typeface="Arial"/>
              </a:rPr>
              <a:t>Wave 1 rolls over in 2021</a:t>
            </a:r>
            <a:r>
              <a:rPr sz="1550" b="0" i="0">
                <a:solidFill>
                  <a:srgbClr val="46525D"/>
                </a:solidFill>
                <a:latin typeface="Arial"/>
              </a:rPr>
              <a:t> while </a:t>
            </a:r>
            <a:r>
              <a:rPr sz="1550" b="1" i="0">
                <a:solidFill>
                  <a:srgbClr val="0A8C80"/>
                </a:solidFill>
                <a:latin typeface="Arial"/>
              </a:rPr>
              <a:t>Wave 2 accelerates from 2024–25</a:t>
            </a:r>
            <a:r>
              <a:rPr sz="1550" b="0" i="0">
                <a:solidFill>
                  <a:srgbClr val="46525D"/>
                </a:solidFill>
                <a:latin typeface="Arial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6525D"/>
                </a:solidFill>
                <a:latin typeface="Arial"/>
              </a:rPr>
              <a:t>Honest caveat:  </a:t>
            </a:r>
            <a:r>
              <a:rPr sz="1500" b="0" i="0">
                <a:solidFill>
                  <a:srgbClr val="7A8590"/>
                </a:solidFill>
                <a:latin typeface="Arial"/>
              </a:rPr>
              <a:t>the same 2021 slowdown is </a:t>
            </a:r>
            <a:r>
              <a:rPr sz="1500" b="1" i="0">
                <a:solidFill>
                  <a:srgbClr val="C1443B"/>
                </a:solidFill>
                <a:latin typeface="Arial"/>
              </a:rPr>
              <a:t>fragile in the composite (35%, 7/20)</a:t>
            </a:r>
            <a:r>
              <a:rPr sz="1500" b="0" i="0">
                <a:solidFill>
                  <a:srgbClr val="7A8590"/>
                </a:solidFill>
                <a:latin typeface="Arial"/>
              </a:rPr>
              <a:t> — exactly why the sub-indices, not the blend, carry the argument.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17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~17:15    ·    Fintech Two-Wave Disruption Index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4 ·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Four ways to try to break the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9199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Just these 7 stocks?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→ a fintech-sector ETF vs. a bank-sector ETF.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Just these 7 companies?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→ the agentic query across every SEC 10-K filer.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Just the 2022 growth selloff?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→ benchmark fintech against QQQ and ARKK.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Does the count mislead?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→ an LLM reads the filings instead of counting them.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Do the breaks depend on the knobs?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→ a tool-using agent red-teams the parameters.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18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~18:00    ·    Fintech Two-Wave Disruption Index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4 ·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Beyond the 7 tickers: sector ETFs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011680"/>
            <a:ext cx="292608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12848"/>
            <a:ext cx="50259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0A8C80"/>
                </a:solidFill>
                <a:latin typeface="Arial"/>
              </a:rPr>
              <a:t>FINX  vs  KBWB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Fintech-sector ETF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against a bank-sector ETF — not the hand-picked names.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Peaked 233 (Sep 2020)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→ 56 by 2026, below its 2018 start.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Same rise-and-rollover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shape, found independently of the 7 tickers.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2011680"/>
            <a:ext cx="292608" cy="100584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4447" y="2212848"/>
            <a:ext cx="502599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B26D2A"/>
                </a:solidFill>
                <a:latin typeface="Arial"/>
              </a:rPr>
              <a:t>The 7-ticker sample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Peaked 519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 same month (Sep 2020).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→ 73 by 2026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also below start.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12181F"/>
                </a:solidFill>
                <a:latin typeface="Arial"/>
              </a:rPr>
              <a:t>Different amplitude,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same shape, same turning point.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34924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Verdict: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"fintech rose then rolled over vs. banks" is a fact about the sector, not an artifact of which 7 companies I picked.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19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~19:00    ·    Fintech Two-Wave Disruption Index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4 ·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Beyond the 7 companies: market-wide EDGAR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74519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40">
                <a:solidFill>
                  <a:srgbClr val="7A8590"/>
                </a:solidFill>
                <a:latin typeface="Arial"/>
              </a:rPr>
              <a:t>Market-wide "agentic" 10-K filings — no company filter, every filer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286000"/>
          <a:ext cx="10509192" cy="914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13649"/>
                <a:gridCol w="1313649"/>
                <a:gridCol w="1313649"/>
                <a:gridCol w="1313649"/>
                <a:gridCol w="1313649"/>
                <a:gridCol w="1313649"/>
                <a:gridCol w="1313649"/>
                <a:gridCol w="131364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EAEFF3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128016" marR="73152" marT="45720" marB="45720" anchor="ctr">
                    <a:solidFill>
                      <a:srgbClr val="0E15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2181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6525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6525D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6525D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6525D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6525D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6525D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46525D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128016" marR="73152" marT="45720" marB="45720" anchor="ctr">
                    <a:solidFill>
                      <a:srgbClr val="F2F5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3657600"/>
            <a:ext cx="1050919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550" b="1" i="0">
                <a:solidFill>
                  <a:srgbClr val="12181F"/>
                </a:solidFill>
                <a:latin typeface="Arial"/>
              </a:rPr>
              <a:t>Low single digits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for six straight years, against tens of thousands of filers.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5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550" b="1" i="0">
                <a:solidFill>
                  <a:srgbClr val="12181F"/>
                </a:solidFill>
                <a:latin typeface="Arial"/>
              </a:rPr>
              <a:t>~18× jump in 2025,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then grows further in 2026 — same shape as my sample, different scale.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5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550" b="1" i="0">
                <a:solidFill>
                  <a:srgbClr val="12181F"/>
                </a:solidFill>
                <a:latin typeface="Arial"/>
              </a:rPr>
              <a:t>The single strongest evidence  </a:t>
            </a:r>
            <a:r>
              <a:rPr sz="1550" b="0" i="0">
                <a:solidFill>
                  <a:srgbClr val="46525D"/>
                </a:solidFill>
                <a:latin typeface="Arial"/>
              </a:rPr>
              <a:t>that Wave 2's thinness is early, not a 7-company artifact.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20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~20:15    ·    Fintech Two-Wave Disruption Index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4 ·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Fintech-specific, not just the 2022 selloff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The objection: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every unprofitable growth stock sold off in 2022's rate-hike cycle.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vs QQQ (broad growth):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fintech peaked 205 → 63, underperforming the growth market by ~37%.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vs ARKK (speculative growth):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fintech held up (~142) — it beat the riskiest bucket. The honest nuance.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663440"/>
            <a:ext cx="82296" cy="114300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466344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2000" b="0" i="1">
                <a:solidFill>
                  <a:srgbClr val="12181F"/>
                </a:solidFill>
                <a:latin typeface="Georgia"/>
              </a:rPr>
              <a:t>The decline is fintech-specific — not the whole growth tide going out.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21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~21:15    ·    Fintech Two-Wave Disruption Index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4 ·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Does the count mislead? Read the filings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9199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The count says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5 incumbents disclose "agentic" language — which reads as leadership.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But a regex can't tell apart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three very different things a filing does with the same word.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1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classify_filings.py reads each passage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and an LLM labels it — quoting the exact span it relied 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4114800"/>
            <a:ext cx="99605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E8B4E"/>
                </a:solidFill>
                <a:latin typeface="Arial"/>
              </a:rPr>
              <a:t>■  </a:t>
            </a:r>
            <a:r>
              <a:rPr sz="1600" b="1" i="0">
                <a:solidFill>
                  <a:srgbClr val="2E8B4E"/>
                </a:solidFill>
                <a:latin typeface="Arial"/>
              </a:rPr>
              <a:t>Deploying  </a:t>
            </a:r>
            <a:r>
              <a:rPr sz="1600" b="0" i="0">
                <a:solidFill>
                  <a:srgbClr val="46525D"/>
                </a:solidFill>
                <a:latin typeface="Arial"/>
              </a:rPr>
              <a:t>— already using / has shipped agentic AI in its own products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C6901A"/>
                </a:solidFill>
                <a:latin typeface="Arial"/>
              </a:rPr>
              <a:t>■  </a:t>
            </a:r>
            <a:r>
              <a:rPr sz="1600" b="1" i="0">
                <a:solidFill>
                  <a:srgbClr val="C6901A"/>
                </a:solidFill>
                <a:latin typeface="Arial"/>
              </a:rPr>
              <a:t>Exploring  </a:t>
            </a:r>
            <a:r>
              <a:rPr sz="1600" b="0" i="0">
                <a:solidFill>
                  <a:srgbClr val="46525D"/>
                </a:solidFill>
                <a:latin typeface="Arial"/>
              </a:rPr>
              <a:t>— investing, piloting, planning — not live yet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C1443B"/>
                </a:solidFill>
                <a:latin typeface="Arial"/>
              </a:rPr>
              <a:t>■  </a:t>
            </a:r>
            <a:r>
              <a:rPr sz="1600" b="1" i="0">
                <a:solidFill>
                  <a:srgbClr val="C1443B"/>
                </a:solidFill>
                <a:latin typeface="Arial"/>
              </a:rPr>
              <a:t>Risk / threat  </a:t>
            </a:r>
            <a:r>
              <a:rPr sz="1600" b="0" i="0">
                <a:solidFill>
                  <a:srgbClr val="46525D"/>
                </a:solidFill>
                <a:latin typeface="Arial"/>
              </a:rPr>
              <a:t>— names it as a danger: disintermediation, cyber, liability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22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~22:15    ·    Fintech Two-Wave Disruption Index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4 ·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12181F"/>
                </a:solidFill>
                <a:latin typeface="Arial"/>
              </a:rPr>
              <a:t>Two postures: deploy-to-attract vs. govern-the-risk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1368" y="1499616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2E8B4E"/>
                </a:solidFill>
                <a:latin typeface="Arial"/>
              </a:rPr>
              <a:t>■ </a:t>
            </a:r>
            <a:r>
              <a:rPr sz="1100" b="0" i="0">
                <a:solidFill>
                  <a:srgbClr val="7A8590"/>
                </a:solidFill>
                <a:latin typeface="Arial"/>
              </a:rPr>
              <a:t>deploying    </a:t>
            </a:r>
            <a:r>
              <a:rPr sz="1200" b="0" i="0">
                <a:solidFill>
                  <a:srgbClr val="C6901A"/>
                </a:solidFill>
                <a:latin typeface="Arial"/>
              </a:rPr>
              <a:t>■ </a:t>
            </a:r>
            <a:r>
              <a:rPr sz="1100" b="0" i="0">
                <a:solidFill>
                  <a:srgbClr val="7A8590"/>
                </a:solidFill>
                <a:latin typeface="Arial"/>
              </a:rPr>
              <a:t>exploring    </a:t>
            </a:r>
            <a:r>
              <a:rPr sz="1200" b="0" i="0">
                <a:solidFill>
                  <a:srgbClr val="C1443B"/>
                </a:solidFill>
                <a:latin typeface="Arial"/>
              </a:rPr>
              <a:t>■ </a:t>
            </a:r>
            <a:r>
              <a:rPr sz="1100" b="0" i="0">
                <a:solidFill>
                  <a:srgbClr val="7A8590"/>
                </a:solidFill>
                <a:latin typeface="Arial"/>
              </a:rPr>
              <a:t>risk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181F"/>
                </a:solidFill>
                <a:latin typeface="Courier New"/>
              </a:rPr>
              <a:t>JPM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1368" y="1911096"/>
            <a:ext cx="2335152" cy="237744"/>
          </a:xfrm>
          <a:prstGeom prst="roundRect">
            <a:avLst>
              <a:gd name="adj" fmla="val 28000"/>
            </a:avLst>
          </a:prstGeom>
          <a:solidFill>
            <a:srgbClr val="C1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16168" y="1828800"/>
            <a:ext cx="4114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6525D"/>
                </a:solidFill>
                <a:latin typeface="Courier New"/>
              </a:rPr>
              <a:t>0/0/3</a:t>
            </a:r>
            <a:r>
              <a:rPr sz="1200" b="0" i="0">
                <a:solidFill>
                  <a:srgbClr val="7A8590"/>
                </a:solidFill>
                <a:latin typeface="Arial"/>
              </a:rPr>
              <a:t>   </a:t>
            </a:r>
            <a:r>
              <a:rPr sz="1200" b="1" i="0">
                <a:solidFill>
                  <a:srgbClr val="C1443B"/>
                </a:solidFill>
                <a:latin typeface="Arial"/>
              </a:rPr>
              <a:t>Risk /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249424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181F"/>
                </a:solidFill>
                <a:latin typeface="Courier New"/>
              </a:rPr>
              <a:t>HSBC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1368" y="2331720"/>
            <a:ext cx="762384" cy="237744"/>
          </a:xfrm>
          <a:prstGeom prst="roundRect">
            <a:avLst>
              <a:gd name="adj" fmla="val 28000"/>
            </a:avLst>
          </a:prstGeom>
          <a:solidFill>
            <a:srgbClr val="C6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87752" y="2331720"/>
            <a:ext cx="1548768" cy="237744"/>
          </a:xfrm>
          <a:prstGeom prst="roundRect">
            <a:avLst>
              <a:gd name="adj" fmla="val 28000"/>
            </a:avLst>
          </a:prstGeom>
          <a:solidFill>
            <a:srgbClr val="C1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6168" y="2249424"/>
            <a:ext cx="4114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6525D"/>
                </a:solidFill>
                <a:latin typeface="Courier New"/>
              </a:rPr>
              <a:t>0/1/2</a:t>
            </a:r>
            <a:r>
              <a:rPr sz="1200" b="0" i="0">
                <a:solidFill>
                  <a:srgbClr val="7A8590"/>
                </a:solidFill>
                <a:latin typeface="Arial"/>
              </a:rPr>
              <a:t>   </a:t>
            </a:r>
            <a:r>
              <a:rPr sz="1200" b="1" i="0">
                <a:solidFill>
                  <a:srgbClr val="C1443B"/>
                </a:solidFill>
                <a:latin typeface="Arial"/>
              </a:rPr>
              <a:t>Risk / govern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2670048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181F"/>
                </a:solidFill>
                <a:latin typeface="Courier New"/>
              </a:rPr>
              <a:t>BCS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1368" y="2752344"/>
            <a:ext cx="3907920" cy="237744"/>
          </a:xfrm>
          <a:prstGeom prst="roundRect">
            <a:avLst>
              <a:gd name="adj" fmla="val 28000"/>
            </a:avLst>
          </a:prstGeom>
          <a:solidFill>
            <a:srgbClr val="C1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16168" y="2670048"/>
            <a:ext cx="4114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6525D"/>
                </a:solidFill>
                <a:latin typeface="Courier New"/>
              </a:rPr>
              <a:t>0/0/5</a:t>
            </a:r>
            <a:r>
              <a:rPr sz="1200" b="0" i="0">
                <a:solidFill>
                  <a:srgbClr val="7A8590"/>
                </a:solidFill>
                <a:latin typeface="Arial"/>
              </a:rPr>
              <a:t>   </a:t>
            </a:r>
            <a:r>
              <a:rPr sz="1200" b="1" i="0">
                <a:solidFill>
                  <a:srgbClr val="C1443B"/>
                </a:solidFill>
                <a:latin typeface="Arial"/>
              </a:rPr>
              <a:t>Risk / govern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090672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181F"/>
                </a:solidFill>
                <a:latin typeface="Courier New"/>
              </a:rPr>
              <a:t>PYPL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1368" y="3172968"/>
            <a:ext cx="762384" cy="237744"/>
          </a:xfrm>
          <a:prstGeom prst="roundRect">
            <a:avLst>
              <a:gd name="adj" fmla="val 28000"/>
            </a:avLst>
          </a:prstGeom>
          <a:solidFill>
            <a:srgbClr val="2E8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87752" y="3172968"/>
            <a:ext cx="762384" cy="237744"/>
          </a:xfrm>
          <a:prstGeom prst="roundRect">
            <a:avLst>
              <a:gd name="adj" fmla="val 28000"/>
            </a:avLst>
          </a:prstGeom>
          <a:solidFill>
            <a:srgbClr val="C69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74136" y="3172968"/>
            <a:ext cx="762384" cy="237744"/>
          </a:xfrm>
          <a:prstGeom prst="roundRect">
            <a:avLst>
              <a:gd name="adj" fmla="val 28000"/>
            </a:avLst>
          </a:prstGeom>
          <a:solidFill>
            <a:srgbClr val="C1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16168" y="3090672"/>
            <a:ext cx="4114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6525D"/>
                </a:solidFill>
                <a:latin typeface="Courier New"/>
              </a:rPr>
              <a:t>1/1/1</a:t>
            </a:r>
            <a:r>
              <a:rPr sz="1200" b="0" i="0">
                <a:solidFill>
                  <a:srgbClr val="7A8590"/>
                </a:solidFill>
                <a:latin typeface="Arial"/>
              </a:rPr>
              <a:t>   </a:t>
            </a:r>
            <a:r>
              <a:rPr sz="1200" b="1" i="0">
                <a:solidFill>
                  <a:srgbClr val="2E8B4E"/>
                </a:solidFill>
                <a:latin typeface="Arial"/>
              </a:rPr>
              <a:t>Deploying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511296"/>
            <a:ext cx="868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2181F"/>
                </a:solidFill>
                <a:latin typeface="Courier New"/>
              </a:rPr>
              <a:t>XYZ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01368" y="3593592"/>
            <a:ext cx="762384" cy="237744"/>
          </a:xfrm>
          <a:prstGeom prst="roundRect">
            <a:avLst>
              <a:gd name="adj" fmla="val 28000"/>
            </a:avLst>
          </a:prstGeom>
          <a:solidFill>
            <a:srgbClr val="2E8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587752" y="3593592"/>
            <a:ext cx="1548768" cy="237744"/>
          </a:xfrm>
          <a:prstGeom prst="roundRect">
            <a:avLst>
              <a:gd name="adj" fmla="val 28000"/>
            </a:avLst>
          </a:prstGeom>
          <a:solidFill>
            <a:srgbClr val="C1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6168" y="3511296"/>
            <a:ext cx="41148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6525D"/>
                </a:solidFill>
                <a:latin typeface="Courier New"/>
              </a:rPr>
              <a:t>1/0/2</a:t>
            </a:r>
            <a:r>
              <a:rPr sz="1200" b="0" i="0">
                <a:solidFill>
                  <a:srgbClr val="7A8590"/>
                </a:solidFill>
                <a:latin typeface="Arial"/>
              </a:rPr>
              <a:t>   </a:t>
            </a:r>
            <a:r>
              <a:rPr sz="1200" b="1" i="0">
                <a:solidFill>
                  <a:srgbClr val="C1443B"/>
                </a:solidFill>
                <a:latin typeface="Arial"/>
              </a:rPr>
              <a:t>Risk / 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4160520"/>
            <a:ext cx="1050919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8B4E"/>
                </a:solidFill>
                <a:latin typeface="Arial"/>
              </a:rPr>
              <a:t>Fintechs (PayPal, Block) </a:t>
            </a:r>
            <a:r>
              <a:rPr sz="1500" b="0" i="0">
                <a:solidFill>
                  <a:srgbClr val="46525D"/>
                </a:solidFill>
                <a:latin typeface="Arial"/>
              </a:rPr>
              <a:t>deploy AI to win customers — “more reasons to use PayPal and Venmo.”  </a:t>
            </a:r>
            <a:r>
              <a:rPr sz="1500" b="1" i="0">
                <a:solidFill>
                  <a:srgbClr val="C1443B"/>
                </a:solidFill>
                <a:latin typeface="Arial"/>
              </a:rPr>
              <a:t>Banks </a:t>
            </a:r>
            <a:r>
              <a:rPr sz="1500" b="0" i="0">
                <a:solidFill>
                  <a:srgbClr val="46525D"/>
                </a:solidFill>
                <a:latin typeface="Arial"/>
              </a:rPr>
              <a:t>treat it as a risk to be governed — HSBC applies “heightened scrutiny of agentic AI use cases before deployment.”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5349240"/>
            <a:ext cx="82296" cy="173736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5349240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12181F"/>
                </a:solidFill>
                <a:latin typeface="Georgia"/>
              </a:rPr>
              <a:t>Read the right way, the banks' govern-first stance is discipline, not slowness — the mechanism of absorbing a wave, not losing it.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23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~24:00    ·    Fintech Two-Wave Disruption Index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4 · ROBUSTNESS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A tool-using agent red-teams the breaks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One tool — probe(w1_weight, pelt_penalty, momentum_window)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recomputes the index and turning points.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The agent chooses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which settings to test, turn by turn, then judges each break robust or fragile.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Qualitative counterpart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to the deterministic stability grid — an illustrative red-team, not a replacement.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572000"/>
            <a:ext cx="1050919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2181F"/>
                </a:solidFill>
                <a:latin typeface="Arial"/>
              </a:rPr>
              <a:t>Honest framing:  </a:t>
            </a:r>
            <a:r>
              <a:rPr sz="1450" b="0" i="0">
                <a:solidFill>
                  <a:srgbClr val="46525D"/>
                </a:solidFill>
                <a:latin typeface="Arial"/>
              </a:rPr>
              <a:t>the stability grid already sweeps this space exhaustively. The agent's value is demonstrative — a live, reasoning red-team you can watch choose its probes in the dashboard.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24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~24:45    ·    Fintech Two-Wave Disruption Index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5 · CONVERGING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Independent signals, the same two turning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Every signal on one scale: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z-scored, smoothed to show the trend, not the noise.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Price, search, filings, profitability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all bend at ~2021 (Wave 1) and ~2024–25 (Wave 2).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Four different failure modes,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one shared shape — that's what a real regime change looks like.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434840"/>
            <a:ext cx="82296" cy="1143000"/>
          </a:xfrm>
          <a:prstGeom prst="rect">
            <a:avLst/>
          </a:prstGeom>
          <a:solidFill>
            <a:srgbClr val="B2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443484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 i="1">
                <a:solidFill>
                  <a:srgbClr val="12181F"/>
                </a:solidFill>
                <a:latin typeface="Georgia"/>
              </a:rPr>
              <a:t>No single proxy is decisive. Their convergence is.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25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~25:45    ·    Fintech Two-Wave Disruption Index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5 · CONVERGING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Why convergence is the whole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Each proxy is individually weak.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Price is expectation, search is attention, filings are words, income is thin.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But their errors are uncorrelated.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There's no reason a search artifact and a filing artifact would line up by chance.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So agreement is informative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in a way no single series can be — the classic triangulation argument.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26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~26:30    ·    Fintech Two-Wave Disruption Index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28B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A7B2BE"/>
                </a:solidFill>
                <a:latin typeface="Arial"/>
              </a:rPr>
              <a:t>STAGE 6 ·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 i="0">
                <a:solidFill>
                  <a:srgbClr val="EAEFF3"/>
                </a:solidFill>
                <a:latin typeface="Arial"/>
              </a:rPr>
              <a:t>The verdict — three claims, three confidence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>
                <a:solidFill>
                  <a:srgbClr val="28B0A2"/>
                </a:solidFill>
                <a:latin typeface="Arial"/>
              </a:rPr>
              <a:t>—  </a:t>
            </a:r>
            <a:r>
              <a:rPr sz="1700" b="1" i="0">
                <a:solidFill>
                  <a:srgbClr val="EAEFF3"/>
                </a:solidFill>
                <a:latin typeface="Arial"/>
              </a:rPr>
              <a:t>Wave 1 has effectively ended.  </a:t>
            </a:r>
            <a:r>
              <a:rPr sz="1700" b="0" i="0">
                <a:solidFill>
                  <a:srgbClr val="A7B2BE"/>
                </a:solidFill>
                <a:latin typeface="Arial"/>
              </a:rPr>
              <a:t>Measured across price, profitability and share. High confidence.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400"/>
              </a:spcAft>
            </a:pPr>
            <a:r>
              <a:rPr sz="1700" b="1" i="0">
                <a:solidFill>
                  <a:srgbClr val="28B0A2"/>
                </a:solidFill>
                <a:latin typeface="Arial"/>
              </a:rPr>
              <a:t>—  </a:t>
            </a:r>
            <a:r>
              <a:rPr sz="1700" b="1" i="0">
                <a:solidFill>
                  <a:srgbClr val="EAEFF3"/>
                </a:solidFill>
                <a:latin typeface="Arial"/>
              </a:rPr>
              <a:t>Wave 2 is too early to call.  </a:t>
            </a:r>
            <a:r>
              <a:rPr sz="1700" b="0" i="0">
                <a:solidFill>
                  <a:srgbClr val="A7B2BE"/>
                </a:solidFill>
                <a:latin typeface="Arial"/>
              </a:rPr>
              <a:t>Thin evidence — but a real early inflection from ~2024, not nothing.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400"/>
              </a:spcAft>
            </a:pPr>
            <a:r>
              <a:rPr sz="1700" b="1" i="0">
                <a:solidFill>
                  <a:srgbClr val="28B0A2"/>
                </a:solidFill>
                <a:latin typeface="Arial"/>
              </a:rPr>
              <a:t>—  </a:t>
            </a:r>
            <a:r>
              <a:rPr sz="1700" b="1" i="0">
                <a:solidFill>
                  <a:srgbClr val="EAEFF3"/>
                </a:solidFill>
                <a:latin typeface="Arial"/>
              </a:rPr>
              <a:t>Banks likely absorb the AI wave.  </a:t>
            </a:r>
            <a:r>
              <a:rPr sz="1700" b="0" i="0">
                <a:solidFill>
                  <a:srgbClr val="A7B2BE"/>
                </a:solidFill>
                <a:latin typeface="Arial"/>
              </a:rPr>
              <a:t>A labelled prediction, not a finding — see next slide.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526280"/>
            <a:ext cx="82296" cy="1737360"/>
          </a:xfrm>
          <a:prstGeom prst="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4526280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EAEFF3"/>
                </a:solidFill>
                <a:latin typeface="Georgia"/>
              </a:rPr>
              <a:t>The discipline of the project is keeping these three apart — a measurement, an early read, and a prediction are not the same thing.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2A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7B2BE"/>
                </a:solidFill>
                <a:latin typeface="Arial"/>
              </a:rPr>
              <a:t>27 / 31</a:t>
            </a:r>
            <a:r>
              <a:rPr sz="1050" b="0" i="0">
                <a:solidFill>
                  <a:srgbClr val="A7B2BE"/>
                </a:solidFill>
                <a:latin typeface="Arial"/>
              </a:rPr>
              <a:t>    ·    ends ~27:45    ·    Fintech Two-Wave Disruption Index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28B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A7B2BE"/>
                </a:solidFill>
                <a:latin typeface="Arial"/>
              </a:rPr>
              <a:t>STAGE 6 ·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EAEFF3"/>
                </a:solidFill>
                <a:latin typeface="Arial"/>
              </a:rPr>
              <a:t>Why banks likely absorb the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509199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 i="0">
                <a:solidFill>
                  <a:srgbClr val="28B0A2"/>
                </a:solidFill>
                <a:latin typeface="Arial"/>
              </a:rPr>
              <a:t>—  </a:t>
            </a:r>
            <a:r>
              <a:rPr sz="1600" b="1" i="0">
                <a:solidFill>
                  <a:srgbClr val="EAEFF3"/>
                </a:solidFill>
                <a:latin typeface="Arial"/>
              </a:rPr>
              <a:t>Fintechs are exploring AI to attract customers.  </a:t>
            </a:r>
            <a:r>
              <a:rPr sz="1600" b="0" i="0">
                <a:solidFill>
                  <a:srgbClr val="A7B2BE"/>
                </a:solidFill>
                <a:latin typeface="Arial"/>
              </a:rPr>
              <a:t>PayPal and Block are the ones actually deploying agentic AI as a growth play.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200"/>
              </a:spcAft>
            </a:pPr>
            <a:r>
              <a:rPr sz="1600" b="1" i="0">
                <a:solidFill>
                  <a:srgbClr val="28B0A2"/>
                </a:solidFill>
                <a:latin typeface="Arial"/>
              </a:rPr>
              <a:t>—  </a:t>
            </a:r>
            <a:r>
              <a:rPr sz="1600" b="1" i="0">
                <a:solidFill>
                  <a:srgbClr val="EAEFF3"/>
                </a:solidFill>
                <a:latin typeface="Arial"/>
              </a:rPr>
              <a:t>Banks call it a large risk that must be governed.  </a:t>
            </a:r>
            <a:r>
              <a:rPr sz="1600" b="0" i="0">
                <a:solidFill>
                  <a:srgbClr val="A7B2BE"/>
                </a:solidFill>
                <a:latin typeface="Arial"/>
              </a:rPr>
              <a:t>Not paralysis — governance discipline: name the risks, build controls, then deploy.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200"/>
              </a:spcAft>
            </a:pPr>
            <a:r>
              <a:rPr sz="1600" b="1" i="0">
                <a:solidFill>
                  <a:srgbClr val="28B0A2"/>
                </a:solidFill>
                <a:latin typeface="Arial"/>
              </a:rPr>
              <a:t>—  </a:t>
            </a:r>
            <a:r>
              <a:rPr sz="1600" b="1" i="0">
                <a:solidFill>
                  <a:srgbClr val="EAEFF3"/>
                </a:solidFill>
                <a:latin typeface="Arial"/>
              </a:rPr>
              <a:t>If that governance-first stance is deliberate,  </a:t>
            </a:r>
            <a:r>
              <a:rPr sz="1600" b="0" i="0">
                <a:solidFill>
                  <a:srgbClr val="A7B2BE"/>
                </a:solidFill>
                <a:latin typeface="Arial"/>
              </a:rPr>
              <a:t>it is exactly how incumbents absorb a wave without being disrupted by it.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200"/>
              </a:spcAft>
            </a:pPr>
            <a:r>
              <a:rPr sz="1600" b="1" i="0">
                <a:solidFill>
                  <a:srgbClr val="28B0A2"/>
                </a:solidFill>
                <a:latin typeface="Arial"/>
              </a:rPr>
              <a:t>—  </a:t>
            </a:r>
            <a:r>
              <a:rPr sz="1600" b="1" i="0">
                <a:solidFill>
                  <a:srgbClr val="EAEFF3"/>
                </a:solidFill>
                <a:latin typeface="Arial"/>
              </a:rPr>
              <a:t>They also have the profits to fund it  </a:t>
            </a:r>
            <a:r>
              <a:rPr sz="1600" b="0" i="0">
                <a:solidFill>
                  <a:srgbClr val="A7B2BE"/>
                </a:solidFill>
                <a:latin typeface="Arial"/>
              </a:rPr>
              <a:t>and the stronger incentive to get the controls right.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4892040"/>
            <a:ext cx="82296" cy="1737360"/>
          </a:xfrm>
          <a:prstGeom prst="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4892040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EAEFF3"/>
                </a:solidFill>
                <a:latin typeface="Georgia"/>
              </a:rPr>
              <a:t>If banks can adopt AI under proper governance — and make sure it is used correctly — fintech's AI push may never become Wave 1.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 spc="120">
                <a:solidFill>
                  <a:srgbClr val="A7B2BE"/>
                </a:solidFill>
                <a:latin typeface="Arial"/>
              </a:rPr>
              <a:t>— the prediction, and the private AI-native entrant is what would break 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2A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7B2BE"/>
                </a:solidFill>
                <a:latin typeface="Arial"/>
              </a:rPr>
              <a:t>28 / 31</a:t>
            </a:r>
            <a:r>
              <a:rPr sz="1050" b="0" i="0">
                <a:solidFill>
                  <a:srgbClr val="A7B2BE"/>
                </a:solidFill>
                <a:latin typeface="Arial"/>
              </a:rPr>
              <a:t>    ·    ends ~29:15    ·    Fintech Two-Wave Disruption Index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6 · VERDICT &amp;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An assistant that can't drift from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Grounded in the live-recomputed data: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every answer is built from the exact df and breaks the sliders just produced.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Cites only figures in context;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it can't invent a statistic or reuse a stale answer after a slider moves.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300"/>
              </a:spcAft>
            </a:pPr>
            <a:r>
              <a:rPr sz="1700" b="1" i="0">
                <a:solidFill>
                  <a:srgbClr val="0A8C80"/>
                </a:solidFill>
                <a:latin typeface="Arial"/>
              </a:rPr>
              <a:t>—  </a:t>
            </a:r>
            <a:r>
              <a:rPr sz="1700" b="1" i="0">
                <a:solidFill>
                  <a:srgbClr val="12181F"/>
                </a:solidFill>
                <a:latin typeface="Arial"/>
              </a:rPr>
              <a:t>Preserves the epistemic distinctions:  </a:t>
            </a:r>
            <a:r>
              <a:rPr sz="1700" b="0" i="0">
                <a:solidFill>
                  <a:srgbClr val="46525D"/>
                </a:solidFill>
                <a:latin typeface="Arial"/>
              </a:rPr>
              <a:t>Wave 1 stated with confidence, Wave 2 flagged as thin, the prediction labelled.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29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~29:45    ·    Fintech Two-Wave Disruption Index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0A8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7A8590"/>
                </a:solidFill>
                <a:latin typeface="Arial"/>
              </a:rPr>
              <a:t>STAGE 6 · VERDICT &amp;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24128"/>
            <a:ext cx="105091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12181F"/>
                </a:solidFill>
                <a:latin typeface="Arial"/>
              </a:rPr>
              <a:t>What this can't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 i="0">
                <a:solidFill>
                  <a:srgbClr val="C1443B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Proxies, not ground truth.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Price is expectation, filings are what firms say, search is attention.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200"/>
              </a:spcAft>
            </a:pPr>
            <a:r>
              <a:rPr sz="1650" b="1" i="0">
                <a:solidFill>
                  <a:srgbClr val="C1443B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Short Wave 2 window (~2 years).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One flat year would meaningfully change the picture.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200"/>
              </a:spcAft>
            </a:pPr>
            <a:r>
              <a:rPr sz="1650" b="1" i="0">
                <a:solidFill>
                  <a:srgbClr val="C1443B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Public companies only.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A private AI-native challenger can't appear, even if it's winning now.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1200"/>
              </a:spcAft>
            </a:pPr>
            <a:r>
              <a:rPr sz="1650" b="1" i="0">
                <a:solidFill>
                  <a:srgbClr val="C1443B"/>
                </a:solidFill>
                <a:latin typeface="Arial"/>
              </a:rPr>
              <a:t>—  </a:t>
            </a:r>
            <a:r>
              <a:rPr sz="1650" b="1" i="0">
                <a:solidFill>
                  <a:srgbClr val="12181F"/>
                </a:solidFill>
                <a:latin typeface="Arial"/>
              </a:rPr>
              <a:t>Part 3 is a prediction;  </a:t>
            </a:r>
            <a:r>
              <a:rPr sz="1650" b="0" i="0">
                <a:solidFill>
                  <a:srgbClr val="46525D"/>
                </a:solidFill>
                <a:latin typeface="Arial"/>
              </a:rPr>
              <a:t>the stance read is one LLM's classification of 19 passages, not a hard statistic.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DD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46525D"/>
                </a:solidFill>
                <a:latin typeface="Arial"/>
              </a:rPr>
              <a:t>30 / 31</a:t>
            </a:r>
            <a:r>
              <a:rPr sz="1050" b="0" i="0">
                <a:solidFill>
                  <a:srgbClr val="7A8590"/>
                </a:solidFill>
                <a:latin typeface="Arial"/>
              </a:rPr>
              <a:t>    ·    ends ~30:45    ·    Fintech Two-Wave Disruption Index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603504"/>
            <a:ext cx="256032" cy="100584"/>
          </a:xfrm>
          <a:prstGeom prst="rect">
            <a:avLst/>
          </a:prstGeom>
          <a:solidFill>
            <a:srgbClr val="D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25296" y="548640"/>
            <a:ext cx="100519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spc="260">
                <a:solidFill>
                  <a:srgbClr val="A7B2BE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92024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EAEFF3"/>
                </a:solidFill>
                <a:latin typeface="Arial"/>
              </a:rPr>
              <a:t>Fintech didn't die, and AI hasn't clearly disrupted anything —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0332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A7B2BE"/>
                </a:solidFill>
                <a:latin typeface="Arial"/>
              </a:rPr>
              <a:t>Wave 1 has effectively ended — reabsorbed by the banks it threatened. Wave 2 is a real, early inflection I won't overclaim, split by posture: fintechs deploying AI, banks governing it. </a:t>
            </a:r>
            <a:r>
              <a:rPr sz="1650" b="1" i="0">
                <a:solidFill>
                  <a:srgbClr val="EAEFF3"/>
                </a:solidFill>
                <a:latin typeface="Arial"/>
              </a:rPr>
              <a:t>The contribution is separating the two waves</a:t>
            </a:r>
            <a:r>
              <a:rPr sz="1650" b="0" i="0">
                <a:solidFill>
                  <a:srgbClr val="A7B2BE"/>
                </a:solidFill>
                <a:latin typeface="Arial"/>
              </a:rPr>
              <a:t> — they run on different clocks, and blending them misreads both.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80644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 spc="120">
                <a:solidFill>
                  <a:srgbClr val="A7B2BE"/>
                </a:solidFill>
                <a:latin typeface="Arial"/>
              </a:rPr>
              <a:t>Thank you  ·  questions welcome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8" y="6309360"/>
            <a:ext cx="10509199" cy="0"/>
          </a:xfrm>
          <a:prstGeom prst="bentConnector3">
            <a:avLst/>
          </a:prstGeom>
          <a:ln w="12700">
            <a:solidFill>
              <a:srgbClr val="2A35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1248" y="6400800"/>
            <a:ext cx="1050919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7B2BE"/>
                </a:solidFill>
                <a:latin typeface="Arial"/>
              </a:rPr>
              <a:t>31 / 31</a:t>
            </a:r>
            <a:r>
              <a:rPr sz="1050" b="0" i="0">
                <a:solidFill>
                  <a:srgbClr val="A7B2BE"/>
                </a:solidFill>
                <a:latin typeface="Arial"/>
              </a:rPr>
              <a:t>    ·    ends ~31:30    ·    Fintech Two-Wave Disruption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
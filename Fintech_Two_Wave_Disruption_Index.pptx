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7315200" cy="320040"/>
          </a:xfrm>
          <a:prstGeom prst="rect">
            <a:avLst/>
          </a:prstGeom>
          <a:noFill/>
        </p:spPr>
        <p:txBody>
          <a:bodyPr wrap="square" lIns="0" rIns="0" tIns="0" bIns="0">
            <a:noAutofit/>
          </a:bodyPr>
          <a:lstStyle/>
          <a:p>
            <a:pPr algn="l">
              <a:lnSpc>
                <a:spcPct val="115000"/>
              </a:lnSpc>
              <a:spcAft>
                <a:spcPts val="0"/>
              </a:spcAft>
            </a:pPr>
            <a:r>
              <a:rPr sz="1300" b="1" i="0">
                <a:solidFill>
                  <a:srgbClr val="B6552A"/>
                </a:solidFill>
                <a:latin typeface="Courier New"/>
              </a:rPr>
              <a:t>THESIS PRESENTATION  ·  10 MINUTES</a:t>
            </a:r>
          </a:p>
        </p:txBody>
      </p:sp>
      <p:sp>
        <p:nvSpPr>
          <p:cNvPr id="4" name="TextBox 3"/>
          <p:cNvSpPr txBox="1"/>
          <p:nvPr/>
        </p:nvSpPr>
        <p:spPr>
          <a:xfrm>
            <a:off x="777240" y="2331720"/>
            <a:ext cx="10515600" cy="1737360"/>
          </a:xfrm>
          <a:prstGeom prst="rect">
            <a:avLst/>
          </a:prstGeom>
          <a:noFill/>
        </p:spPr>
        <p:txBody>
          <a:bodyPr wrap="square" lIns="0" rIns="0" tIns="0" bIns="0">
            <a:noAutofit/>
          </a:bodyPr>
          <a:lstStyle/>
          <a:p>
            <a:pPr algn="l">
              <a:lnSpc>
                <a:spcPct val="103000"/>
              </a:lnSpc>
              <a:spcAft>
                <a:spcPts val="0"/>
              </a:spcAft>
            </a:pPr>
            <a:r>
              <a:rPr sz="4800" b="1" i="0">
                <a:solidFill>
                  <a:srgbClr val="1D2130"/>
                </a:solidFill>
                <a:latin typeface="Georgia"/>
              </a:rPr>
              <a:t>Fintech Two-Wave</a:t>
            </a:r>
          </a:p>
          <a:p>
            <a:pPr algn="l">
              <a:lnSpc>
                <a:spcPct val="103000"/>
              </a:lnSpc>
              <a:spcAft>
                <a:spcPts val="0"/>
              </a:spcAft>
            </a:pPr>
            <a:r>
              <a:rPr sz="4800" b="1" i="0">
                <a:solidFill>
                  <a:srgbClr val="1D2130"/>
                </a:solidFill>
                <a:latin typeface="Georgia"/>
              </a:rPr>
              <a:t>Disruption Index</a:t>
            </a:r>
          </a:p>
        </p:txBody>
      </p:sp>
      <p:sp>
        <p:nvSpPr>
          <p:cNvPr id="5" name="Rectangle 4"/>
          <p:cNvSpPr/>
          <p:nvPr/>
        </p:nvSpPr>
        <p:spPr>
          <a:xfrm>
            <a:off x="822960" y="3977639"/>
            <a:ext cx="822960" cy="32004"/>
          </a:xfrm>
          <a:prstGeom prst="rect">
            <a:avLst/>
          </a:prstGeom>
          <a:solidFill>
            <a:srgbClr val="B6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160520"/>
            <a:ext cx="8412480" cy="822960"/>
          </a:xfrm>
          <a:prstGeom prst="rect">
            <a:avLst/>
          </a:prstGeom>
          <a:noFill/>
        </p:spPr>
        <p:txBody>
          <a:bodyPr wrap="square" lIns="0" rIns="0" tIns="0" bIns="0">
            <a:noAutofit/>
          </a:bodyPr>
          <a:lstStyle/>
          <a:p>
            <a:pPr algn="l">
              <a:lnSpc>
                <a:spcPct val="130000"/>
              </a:lnSpc>
              <a:spcAft>
                <a:spcPts val="0"/>
              </a:spcAft>
            </a:pPr>
            <a:r>
              <a:rPr sz="1900" b="0" i="0">
                <a:solidFill>
                  <a:srgbClr val="3A3F4E"/>
                </a:solidFill>
                <a:latin typeface="Calibri"/>
              </a:rPr>
              <a:t>Has fintech disruption of traditional banking already run its course — or is a second, AI-native wave only now beginning?</a:t>
            </a:r>
          </a:p>
        </p:txBody>
      </p:sp>
      <p:sp>
        <p:nvSpPr>
          <p:cNvPr id="7" name="TextBox 6"/>
          <p:cNvSpPr txBox="1"/>
          <p:nvPr/>
        </p:nvSpPr>
        <p:spPr>
          <a:xfrm>
            <a:off x="822960" y="5257800"/>
            <a:ext cx="9601200" cy="320040"/>
          </a:xfrm>
          <a:prstGeom prst="rect">
            <a:avLst/>
          </a:prstGeom>
          <a:noFill/>
        </p:spPr>
        <p:txBody>
          <a:bodyPr wrap="square" lIns="0" rIns="0" tIns="0" bIns="0">
            <a:noAutofit/>
          </a:bodyPr>
          <a:lstStyle/>
          <a:p>
            <a:pPr algn="l">
              <a:lnSpc>
                <a:spcPct val="115000"/>
              </a:lnSpc>
              <a:spcAft>
                <a:spcPts val="0"/>
              </a:spcAft>
            </a:pPr>
            <a:r>
              <a:rPr sz="1250" b="0" i="0">
                <a:solidFill>
                  <a:srgbClr val="6E6C5C"/>
                </a:solidFill>
                <a:latin typeface="Courier New"/>
              </a:rPr>
              <a:t>Kai Tee     ·     Summer 2026 Intern Thesis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02</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THE QUESTION</a:t>
            </a:r>
          </a:p>
        </p:txBody>
      </p:sp>
      <p:sp>
        <p:nvSpPr>
          <p:cNvPr id="5" name="TextBox 4"/>
          <p:cNvSpPr txBox="1"/>
          <p:nvPr/>
        </p:nvSpPr>
        <p:spPr>
          <a:xfrm>
            <a:off x="685800" y="749808"/>
            <a:ext cx="10789920" cy="914400"/>
          </a:xfrm>
          <a:prstGeom prst="rect">
            <a:avLst/>
          </a:prstGeom>
          <a:noFill/>
        </p:spPr>
        <p:txBody>
          <a:bodyPr wrap="square" lIns="0" rIns="0" tIns="0" bIns="0">
            <a:noAutofit/>
          </a:bodyPr>
          <a:lstStyle/>
          <a:p>
            <a:pPr algn="l">
              <a:lnSpc>
                <a:spcPct val="102000"/>
              </a:lnSpc>
              <a:spcAft>
                <a:spcPts val="0"/>
              </a:spcAft>
            </a:pPr>
            <a:r>
              <a:rPr sz="3000" b="1" i="0">
                <a:solidFill>
                  <a:srgbClr val="1D2130"/>
                </a:solidFill>
                <a:latin typeface="Georgia"/>
              </a:rPr>
              <a:t>Two waves, not one</a:t>
            </a:r>
          </a:p>
        </p:txBody>
      </p:sp>
      <p:sp>
        <p:nvSpPr>
          <p:cNvPr id="6" name="TextBox 5"/>
          <p:cNvSpPr txBox="1"/>
          <p:nvPr/>
        </p:nvSpPr>
        <p:spPr>
          <a:xfrm>
            <a:off x="685800" y="1536192"/>
            <a:ext cx="9601200" cy="685800"/>
          </a:xfrm>
          <a:prstGeom prst="rect">
            <a:avLst/>
          </a:prstGeom>
          <a:noFill/>
        </p:spPr>
        <p:txBody>
          <a:bodyPr wrap="square" lIns="0" rIns="0" tIns="0" bIns="0">
            <a:noAutofit/>
          </a:bodyPr>
          <a:lstStyle/>
          <a:p>
            <a:pPr algn="l">
              <a:lnSpc>
                <a:spcPct val="130000"/>
              </a:lnSpc>
              <a:spcAft>
                <a:spcPts val="0"/>
              </a:spcAft>
            </a:pPr>
            <a:r>
              <a:rPr sz="1550" b="0" i="0">
                <a:solidFill>
                  <a:srgbClr val="3A3F4E"/>
                </a:solidFill>
                <a:latin typeface="Calibri"/>
              </a:rPr>
              <a:t>Asking “did fintech disrupt banking?” is trivial — yes. This project tests for two separate, dateable structural breaks instead.</a:t>
            </a:r>
          </a:p>
        </p:txBody>
      </p:sp>
      <p:sp>
        <p:nvSpPr>
          <p:cNvPr id="7" name="Rounded Rectangle 6"/>
          <p:cNvSpPr/>
          <p:nvPr/>
        </p:nvSpPr>
        <p:spPr>
          <a:xfrm>
            <a:off x="685800" y="2423160"/>
            <a:ext cx="5212080" cy="3291840"/>
          </a:xfrm>
          <a:prstGeom prst="round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41832" y="2679191"/>
            <a:ext cx="1920240" cy="292608"/>
          </a:xfrm>
          <a:prstGeom prst="roundRect">
            <a:avLst/>
          </a:prstGeom>
          <a:solidFill>
            <a:srgbClr val="EAE7DC"/>
          </a:solidFill>
          <a:ln w="12700">
            <a:solidFill>
              <a:srgbClr val="3E6E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679191"/>
            <a:ext cx="1920240" cy="292608"/>
          </a:xfrm>
          <a:prstGeom prst="rect">
            <a:avLst/>
          </a:prstGeom>
          <a:noFill/>
        </p:spPr>
        <p:txBody>
          <a:bodyPr wrap="square" lIns="0" rIns="0" tIns="0" bIns="0" anchor="t">
            <a:noAutofit/>
          </a:bodyPr>
          <a:lstStyle/>
          <a:p>
            <a:pPr algn="ctr">
              <a:lnSpc>
                <a:spcPct val="115000"/>
              </a:lnSpc>
              <a:spcAft>
                <a:spcPts val="0"/>
              </a:spcAft>
            </a:pPr>
            <a:r>
              <a:rPr sz="950" b="1" i="0">
                <a:solidFill>
                  <a:srgbClr val="3E6E64"/>
                </a:solidFill>
                <a:latin typeface="Courier New"/>
              </a:rPr>
              <a:t>WAVE 1 · 2010–2021</a:t>
            </a:r>
          </a:p>
        </p:txBody>
      </p:sp>
      <p:sp>
        <p:nvSpPr>
          <p:cNvPr id="10" name="TextBox 9"/>
          <p:cNvSpPr txBox="1"/>
          <p:nvPr/>
        </p:nvSpPr>
        <p:spPr>
          <a:xfrm>
            <a:off x="941832" y="3136391"/>
            <a:ext cx="4700016" cy="365760"/>
          </a:xfrm>
          <a:prstGeom prst="rect">
            <a:avLst/>
          </a:prstGeom>
          <a:noFill/>
        </p:spPr>
        <p:txBody>
          <a:bodyPr wrap="square" lIns="0" rIns="0" tIns="0" bIns="0">
            <a:noAutofit/>
          </a:bodyPr>
          <a:lstStyle/>
          <a:p>
            <a:pPr algn="l">
              <a:lnSpc>
                <a:spcPct val="115000"/>
              </a:lnSpc>
              <a:spcAft>
                <a:spcPts val="0"/>
              </a:spcAft>
            </a:pPr>
            <a:r>
              <a:rPr sz="1600" b="1" i="0">
                <a:solidFill>
                  <a:srgbClr val="1D2130"/>
                </a:solidFill>
                <a:latin typeface="Calibri"/>
              </a:rPr>
              <a:t>App-based disruption</a:t>
            </a:r>
          </a:p>
        </p:txBody>
      </p:sp>
      <p:sp>
        <p:nvSpPr>
          <p:cNvPr id="11" name="TextBox 10"/>
          <p:cNvSpPr txBox="1"/>
          <p:nvPr/>
        </p:nvSpPr>
        <p:spPr>
          <a:xfrm>
            <a:off x="941832" y="3547872"/>
            <a:ext cx="4700016" cy="2121408"/>
          </a:xfrm>
          <a:prstGeom prst="rect">
            <a:avLst/>
          </a:prstGeom>
          <a:noFill/>
        </p:spPr>
        <p:txBody>
          <a:bodyPr wrap="square" lIns="0" rIns="0" tIns="0" bIns="0">
            <a:noAutofit/>
          </a:bodyPr>
          <a:lstStyle/>
          <a:p>
            <a:pPr algn="l">
              <a:lnSpc>
                <a:spcPct val="125000"/>
              </a:lnSpc>
              <a:spcAft>
                <a:spcPts val="0"/>
              </a:spcAft>
            </a:pPr>
            <a:r>
              <a:rPr sz="1250" b="0" i="0">
                <a:solidFill>
                  <a:srgbClr val="3A3F4E"/>
                </a:solidFill>
                <a:latin typeface="Calibri"/>
              </a:rPr>
              <a:t>Payments, neobanks, embedded finance — PayPal, Block, SoFi, Nubank. Won on user experience, not a fundamentally different banking model. Did it hold?</a:t>
            </a:r>
          </a:p>
        </p:txBody>
      </p:sp>
      <p:sp>
        <p:nvSpPr>
          <p:cNvPr id="12" name="Rounded Rectangle 11"/>
          <p:cNvSpPr/>
          <p:nvPr/>
        </p:nvSpPr>
        <p:spPr>
          <a:xfrm>
            <a:off x="6190488" y="2423160"/>
            <a:ext cx="5212080" cy="3291840"/>
          </a:xfrm>
          <a:prstGeom prst="round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46520" y="2679191"/>
            <a:ext cx="1920240" cy="292608"/>
          </a:xfrm>
          <a:prstGeom prst="roundRect">
            <a:avLst/>
          </a:prstGeom>
          <a:solidFill>
            <a:srgbClr val="EAE7DC"/>
          </a:solidFill>
          <a:ln w="12700">
            <a:solidFill>
              <a:srgbClr val="B655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679191"/>
            <a:ext cx="1920240" cy="292608"/>
          </a:xfrm>
          <a:prstGeom prst="rect">
            <a:avLst/>
          </a:prstGeom>
          <a:noFill/>
        </p:spPr>
        <p:txBody>
          <a:bodyPr wrap="square" lIns="0" rIns="0" tIns="0" bIns="0" anchor="t">
            <a:noAutofit/>
          </a:bodyPr>
          <a:lstStyle/>
          <a:p>
            <a:pPr algn="ctr">
              <a:lnSpc>
                <a:spcPct val="115000"/>
              </a:lnSpc>
              <a:spcAft>
                <a:spcPts val="0"/>
              </a:spcAft>
            </a:pPr>
            <a:r>
              <a:rPr sz="950" b="1" i="0">
                <a:solidFill>
                  <a:srgbClr val="B6552A"/>
                </a:solidFill>
                <a:latin typeface="Courier New"/>
              </a:rPr>
              <a:t>WAVE 2 · 2024–</a:t>
            </a:r>
          </a:p>
        </p:txBody>
      </p:sp>
      <p:sp>
        <p:nvSpPr>
          <p:cNvPr id="15" name="TextBox 14"/>
          <p:cNvSpPr txBox="1"/>
          <p:nvPr/>
        </p:nvSpPr>
        <p:spPr>
          <a:xfrm>
            <a:off x="6446520" y="3136391"/>
            <a:ext cx="4700016" cy="365760"/>
          </a:xfrm>
          <a:prstGeom prst="rect">
            <a:avLst/>
          </a:prstGeom>
          <a:noFill/>
        </p:spPr>
        <p:txBody>
          <a:bodyPr wrap="square" lIns="0" rIns="0" tIns="0" bIns="0">
            <a:noAutofit/>
          </a:bodyPr>
          <a:lstStyle/>
          <a:p>
            <a:pPr algn="l">
              <a:lnSpc>
                <a:spcPct val="115000"/>
              </a:lnSpc>
              <a:spcAft>
                <a:spcPts val="0"/>
              </a:spcAft>
            </a:pPr>
            <a:r>
              <a:rPr sz="1600" b="1" i="0">
                <a:solidFill>
                  <a:srgbClr val="1D2130"/>
                </a:solidFill>
                <a:latin typeface="Calibri"/>
              </a:rPr>
              <a:t>AI-native finance</a:t>
            </a:r>
          </a:p>
        </p:txBody>
      </p:sp>
      <p:sp>
        <p:nvSpPr>
          <p:cNvPr id="16" name="TextBox 15"/>
          <p:cNvSpPr txBox="1"/>
          <p:nvPr/>
        </p:nvSpPr>
        <p:spPr>
          <a:xfrm>
            <a:off x="6446520" y="3547872"/>
            <a:ext cx="4700016" cy="2121408"/>
          </a:xfrm>
          <a:prstGeom prst="rect">
            <a:avLst/>
          </a:prstGeom>
          <a:noFill/>
        </p:spPr>
        <p:txBody>
          <a:bodyPr wrap="square" lIns="0" rIns="0" tIns="0" bIns="0">
            <a:noAutofit/>
          </a:bodyPr>
          <a:lstStyle/>
          <a:p>
            <a:pPr algn="l">
              <a:lnSpc>
                <a:spcPct val="125000"/>
              </a:lnSpc>
              <a:spcAft>
                <a:spcPts val="0"/>
              </a:spcAft>
            </a:pPr>
            <a:r>
              <a:rPr sz="1250" b="0" i="0">
                <a:solidFill>
                  <a:srgbClr val="3A3F4E"/>
                </a:solidFill>
                <a:latin typeface="Calibri"/>
              </a:rPr>
              <a:t>AI-native underwriting and advisory. Mostly private, newly public, or not yet public at all. Early signal, or hype with no company behind it yet?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03</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METHOD</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Three sources → one index → a statistical test</a:t>
            </a:r>
          </a:p>
        </p:txBody>
      </p:sp>
      <p:sp>
        <p:nvSpPr>
          <p:cNvPr id="6" name="TextBox 5"/>
          <p:cNvSpPr txBox="1"/>
          <p:nvPr/>
        </p:nvSpPr>
        <p:spPr>
          <a:xfrm>
            <a:off x="685800" y="1600200"/>
            <a:ext cx="10241280" cy="914400"/>
          </a:xfrm>
          <a:prstGeom prst="rect">
            <a:avLst/>
          </a:prstGeom>
          <a:noFill/>
        </p:spPr>
        <p:txBody>
          <a:bodyPr wrap="square" lIns="0" rIns="0" tIns="0" bIns="0">
            <a:noAutofit/>
          </a:bodyPr>
          <a:lstStyle/>
          <a:p>
            <a:pPr algn="l">
              <a:lnSpc>
                <a:spcPct val="130000"/>
              </a:lnSpc>
              <a:spcAft>
                <a:spcPts val="0"/>
              </a:spcAft>
            </a:pPr>
            <a:r>
              <a:rPr sz="1450" b="0" i="0">
                <a:solidFill>
                  <a:srgbClr val="3A3F4E"/>
                </a:solidFill>
                <a:latin typeface="Calibri"/>
              </a:rPr>
              <a:t>Three independent data sources are collected, normalised to monthly frequency and z-scored, combined into a Fintech Disruption Index (FDI) with two sub-indices, then tested for structural breaks — not eyeballed off a chart.</a:t>
            </a:r>
          </a:p>
        </p:txBody>
      </p:sp>
      <p:sp>
        <p:nvSpPr>
          <p:cNvPr id="7" name="Rectangle 6"/>
          <p:cNvSpPr/>
          <p:nvPr/>
        </p:nvSpPr>
        <p:spPr>
          <a:xfrm>
            <a:off x="685800" y="3063240"/>
            <a:ext cx="2331720" cy="1920240"/>
          </a:xfrm>
          <a:prstGeom prst="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64408"/>
            <a:ext cx="1965960" cy="365760"/>
          </a:xfrm>
          <a:prstGeom prst="rect">
            <a:avLst/>
          </a:prstGeom>
          <a:noFill/>
        </p:spPr>
        <p:txBody>
          <a:bodyPr wrap="square" lIns="0" rIns="0" tIns="0" bIns="0">
            <a:noAutofit/>
          </a:bodyPr>
          <a:lstStyle/>
          <a:p>
            <a:pPr algn="l">
              <a:lnSpc>
                <a:spcPct val="115000"/>
              </a:lnSpc>
              <a:spcAft>
                <a:spcPts val="0"/>
              </a:spcAft>
            </a:pPr>
            <a:r>
              <a:rPr sz="1500" b="1" i="0">
                <a:solidFill>
                  <a:srgbClr val="1D2130"/>
                </a:solidFill>
                <a:latin typeface="Calibri"/>
              </a:rPr>
              <a:t>Collect</a:t>
            </a:r>
          </a:p>
        </p:txBody>
      </p:sp>
      <p:sp>
        <p:nvSpPr>
          <p:cNvPr id="9" name="TextBox 8"/>
          <p:cNvSpPr txBox="1"/>
          <p:nvPr/>
        </p:nvSpPr>
        <p:spPr>
          <a:xfrm>
            <a:off x="868680" y="3703320"/>
            <a:ext cx="1965960" cy="1097280"/>
          </a:xfrm>
          <a:prstGeom prst="rect">
            <a:avLst/>
          </a:prstGeom>
          <a:noFill/>
        </p:spPr>
        <p:txBody>
          <a:bodyPr wrap="square" lIns="0" rIns="0" tIns="0" bIns="0">
            <a:noAutofit/>
          </a:bodyPr>
          <a:lstStyle/>
          <a:p>
            <a:pPr algn="l">
              <a:lnSpc>
                <a:spcPct val="125000"/>
              </a:lnSpc>
              <a:spcAft>
                <a:spcPts val="0"/>
              </a:spcAft>
            </a:pPr>
            <a:r>
              <a:rPr sz="1100" b="0" i="0">
                <a:solidFill>
                  <a:srgbClr val="6E6C5C"/>
                </a:solidFill>
                <a:latin typeface="Calibri"/>
              </a:rPr>
              <a:t>Market prices, Google Trends, SEC EDGAR filings — independently pulled, monthly-resampled.</a:t>
            </a:r>
          </a:p>
        </p:txBody>
      </p:sp>
      <p:sp>
        <p:nvSpPr>
          <p:cNvPr id="10" name="TextBox 9"/>
          <p:cNvSpPr txBox="1"/>
          <p:nvPr/>
        </p:nvSpPr>
        <p:spPr>
          <a:xfrm>
            <a:off x="3017520" y="3794760"/>
            <a:ext cx="384048" cy="457200"/>
          </a:xfrm>
          <a:prstGeom prst="rect">
            <a:avLst/>
          </a:prstGeom>
          <a:noFill/>
        </p:spPr>
        <p:txBody>
          <a:bodyPr wrap="square" lIns="0" rIns="0" tIns="0" bIns="0" anchor="t">
            <a:noAutofit/>
          </a:bodyPr>
          <a:lstStyle/>
          <a:p>
            <a:pPr algn="ctr">
              <a:lnSpc>
                <a:spcPct val="115000"/>
              </a:lnSpc>
              <a:spcAft>
                <a:spcPts val="0"/>
              </a:spcAft>
            </a:pPr>
            <a:r>
              <a:rPr sz="2000" b="0" i="0">
                <a:solidFill>
                  <a:srgbClr val="A79E85"/>
                </a:solidFill>
                <a:latin typeface="Calibri"/>
              </a:rPr>
              <a:t>→</a:t>
            </a:r>
          </a:p>
        </p:txBody>
      </p:sp>
      <p:sp>
        <p:nvSpPr>
          <p:cNvPr id="11" name="Rectangle 10"/>
          <p:cNvSpPr/>
          <p:nvPr/>
        </p:nvSpPr>
        <p:spPr>
          <a:xfrm>
            <a:off x="3401568" y="3063240"/>
            <a:ext cx="2331720" cy="1920240"/>
          </a:xfrm>
          <a:prstGeom prst="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3264408"/>
            <a:ext cx="1965960" cy="365760"/>
          </a:xfrm>
          <a:prstGeom prst="rect">
            <a:avLst/>
          </a:prstGeom>
          <a:noFill/>
        </p:spPr>
        <p:txBody>
          <a:bodyPr wrap="square" lIns="0" rIns="0" tIns="0" bIns="0">
            <a:noAutofit/>
          </a:bodyPr>
          <a:lstStyle/>
          <a:p>
            <a:pPr algn="l">
              <a:lnSpc>
                <a:spcPct val="115000"/>
              </a:lnSpc>
              <a:spcAft>
                <a:spcPts val="0"/>
              </a:spcAft>
            </a:pPr>
            <a:r>
              <a:rPr sz="1500" b="1" i="0">
                <a:solidFill>
                  <a:srgbClr val="1D2130"/>
                </a:solidFill>
                <a:latin typeface="Calibri"/>
              </a:rPr>
              <a:t>Z-score</a:t>
            </a:r>
          </a:p>
        </p:txBody>
      </p:sp>
      <p:sp>
        <p:nvSpPr>
          <p:cNvPr id="13" name="TextBox 12"/>
          <p:cNvSpPr txBox="1"/>
          <p:nvPr/>
        </p:nvSpPr>
        <p:spPr>
          <a:xfrm>
            <a:off x="3584448" y="3703320"/>
            <a:ext cx="1965960" cy="1097280"/>
          </a:xfrm>
          <a:prstGeom prst="rect">
            <a:avLst/>
          </a:prstGeom>
          <a:noFill/>
        </p:spPr>
        <p:txBody>
          <a:bodyPr wrap="square" lIns="0" rIns="0" tIns="0" bIns="0">
            <a:noAutofit/>
          </a:bodyPr>
          <a:lstStyle/>
          <a:p>
            <a:pPr algn="l">
              <a:lnSpc>
                <a:spcPct val="125000"/>
              </a:lnSpc>
              <a:spcAft>
                <a:spcPts val="0"/>
              </a:spcAft>
            </a:pPr>
            <a:r>
              <a:rPr sz="1100" b="0" i="0">
                <a:solidFill>
                  <a:srgbClr val="6E6C5C"/>
                </a:solidFill>
                <a:latin typeface="Calibri"/>
              </a:rPr>
              <a:t>Each series standardised, then combined into Wave 1 / Wave 2 sub-indices.</a:t>
            </a:r>
          </a:p>
        </p:txBody>
      </p:sp>
      <p:sp>
        <p:nvSpPr>
          <p:cNvPr id="14" name="TextBox 13"/>
          <p:cNvSpPr txBox="1"/>
          <p:nvPr/>
        </p:nvSpPr>
        <p:spPr>
          <a:xfrm>
            <a:off x="5733288" y="3794760"/>
            <a:ext cx="384048" cy="457200"/>
          </a:xfrm>
          <a:prstGeom prst="rect">
            <a:avLst/>
          </a:prstGeom>
          <a:noFill/>
        </p:spPr>
        <p:txBody>
          <a:bodyPr wrap="square" lIns="0" rIns="0" tIns="0" bIns="0" anchor="t">
            <a:noAutofit/>
          </a:bodyPr>
          <a:lstStyle/>
          <a:p>
            <a:pPr algn="ctr">
              <a:lnSpc>
                <a:spcPct val="115000"/>
              </a:lnSpc>
              <a:spcAft>
                <a:spcPts val="0"/>
              </a:spcAft>
            </a:pPr>
            <a:r>
              <a:rPr sz="2000" b="0" i="0">
                <a:solidFill>
                  <a:srgbClr val="A79E85"/>
                </a:solidFill>
                <a:latin typeface="Calibri"/>
              </a:rPr>
              <a:t>→</a:t>
            </a:r>
          </a:p>
        </p:txBody>
      </p:sp>
      <p:sp>
        <p:nvSpPr>
          <p:cNvPr id="15" name="Rectangle 14"/>
          <p:cNvSpPr/>
          <p:nvPr/>
        </p:nvSpPr>
        <p:spPr>
          <a:xfrm>
            <a:off x="6117336" y="3063240"/>
            <a:ext cx="2331720" cy="1920240"/>
          </a:xfrm>
          <a:prstGeom prst="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0216" y="3264408"/>
            <a:ext cx="1965960" cy="365760"/>
          </a:xfrm>
          <a:prstGeom prst="rect">
            <a:avLst/>
          </a:prstGeom>
          <a:noFill/>
        </p:spPr>
        <p:txBody>
          <a:bodyPr wrap="square" lIns="0" rIns="0" tIns="0" bIns="0">
            <a:noAutofit/>
          </a:bodyPr>
          <a:lstStyle/>
          <a:p>
            <a:pPr algn="l">
              <a:lnSpc>
                <a:spcPct val="115000"/>
              </a:lnSpc>
              <a:spcAft>
                <a:spcPts val="0"/>
              </a:spcAft>
            </a:pPr>
            <a:r>
              <a:rPr sz="1500" b="1" i="0">
                <a:solidFill>
                  <a:srgbClr val="1D2130"/>
                </a:solidFill>
                <a:latin typeface="Calibri"/>
              </a:rPr>
              <a:t>Composite FDI</a:t>
            </a:r>
          </a:p>
        </p:txBody>
      </p:sp>
      <p:sp>
        <p:nvSpPr>
          <p:cNvPr id="17" name="TextBox 16"/>
          <p:cNvSpPr txBox="1"/>
          <p:nvPr/>
        </p:nvSpPr>
        <p:spPr>
          <a:xfrm>
            <a:off x="6300216" y="3703320"/>
            <a:ext cx="1965960" cy="1097280"/>
          </a:xfrm>
          <a:prstGeom prst="rect">
            <a:avLst/>
          </a:prstGeom>
          <a:noFill/>
        </p:spPr>
        <p:txBody>
          <a:bodyPr wrap="square" lIns="0" rIns="0" tIns="0" bIns="0">
            <a:noAutofit/>
          </a:bodyPr>
          <a:lstStyle/>
          <a:p>
            <a:pPr algn="l">
              <a:lnSpc>
                <a:spcPct val="125000"/>
              </a:lnSpc>
              <a:spcAft>
                <a:spcPts val="0"/>
              </a:spcAft>
            </a:pPr>
            <a:r>
              <a:rPr sz="1100" b="0" i="0">
                <a:solidFill>
                  <a:srgbClr val="6E6C5C"/>
                </a:solidFill>
                <a:latin typeface="Calibri"/>
              </a:rPr>
              <a:t>W1_WEIGHT × Wave1 + (1−W1_WEIGHT) × Wave2, default 50/50.</a:t>
            </a:r>
          </a:p>
        </p:txBody>
      </p:sp>
      <p:sp>
        <p:nvSpPr>
          <p:cNvPr id="18" name="TextBox 17"/>
          <p:cNvSpPr txBox="1"/>
          <p:nvPr/>
        </p:nvSpPr>
        <p:spPr>
          <a:xfrm>
            <a:off x="8449055" y="3794760"/>
            <a:ext cx="384048" cy="457200"/>
          </a:xfrm>
          <a:prstGeom prst="rect">
            <a:avLst/>
          </a:prstGeom>
          <a:noFill/>
        </p:spPr>
        <p:txBody>
          <a:bodyPr wrap="square" lIns="0" rIns="0" tIns="0" bIns="0" anchor="t">
            <a:noAutofit/>
          </a:bodyPr>
          <a:lstStyle/>
          <a:p>
            <a:pPr algn="ctr">
              <a:lnSpc>
                <a:spcPct val="115000"/>
              </a:lnSpc>
              <a:spcAft>
                <a:spcPts val="0"/>
              </a:spcAft>
            </a:pPr>
            <a:r>
              <a:rPr sz="2000" b="0" i="0">
                <a:solidFill>
                  <a:srgbClr val="A79E85"/>
                </a:solidFill>
                <a:latin typeface="Calibri"/>
              </a:rPr>
              <a:t>→</a:t>
            </a:r>
          </a:p>
        </p:txBody>
      </p:sp>
      <p:sp>
        <p:nvSpPr>
          <p:cNvPr id="19" name="Rectangle 18"/>
          <p:cNvSpPr/>
          <p:nvPr/>
        </p:nvSpPr>
        <p:spPr>
          <a:xfrm>
            <a:off x="8833104" y="3063240"/>
            <a:ext cx="2331720" cy="1920240"/>
          </a:xfrm>
          <a:prstGeom prst="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15984" y="3264408"/>
            <a:ext cx="1965960" cy="365760"/>
          </a:xfrm>
          <a:prstGeom prst="rect">
            <a:avLst/>
          </a:prstGeom>
          <a:noFill/>
        </p:spPr>
        <p:txBody>
          <a:bodyPr wrap="square" lIns="0" rIns="0" tIns="0" bIns="0">
            <a:noAutofit/>
          </a:bodyPr>
          <a:lstStyle/>
          <a:p>
            <a:pPr algn="l">
              <a:lnSpc>
                <a:spcPct val="115000"/>
              </a:lnSpc>
              <a:spcAft>
                <a:spcPts val="0"/>
              </a:spcAft>
            </a:pPr>
            <a:r>
              <a:rPr sz="1500" b="1" i="0">
                <a:solidFill>
                  <a:srgbClr val="1D2130"/>
                </a:solidFill>
                <a:latin typeface="Calibri"/>
              </a:rPr>
              <a:t>Break test</a:t>
            </a:r>
          </a:p>
        </p:txBody>
      </p:sp>
      <p:sp>
        <p:nvSpPr>
          <p:cNvPr id="21" name="TextBox 20"/>
          <p:cNvSpPr txBox="1"/>
          <p:nvPr/>
        </p:nvSpPr>
        <p:spPr>
          <a:xfrm>
            <a:off x="9015984" y="3703320"/>
            <a:ext cx="1965960" cy="1097280"/>
          </a:xfrm>
          <a:prstGeom prst="rect">
            <a:avLst/>
          </a:prstGeom>
          <a:noFill/>
        </p:spPr>
        <p:txBody>
          <a:bodyPr wrap="square" lIns="0" rIns="0" tIns="0" bIns="0">
            <a:noAutofit/>
          </a:bodyPr>
          <a:lstStyle/>
          <a:p>
            <a:pPr algn="l">
              <a:lnSpc>
                <a:spcPct val="125000"/>
              </a:lnSpc>
              <a:spcAft>
                <a:spcPts val="0"/>
              </a:spcAft>
            </a:pPr>
            <a:r>
              <a:rPr sz="1100" b="0" i="0">
                <a:solidFill>
                  <a:srgbClr val="6E6C5C"/>
                </a:solidFill>
                <a:latin typeface="Calibri"/>
              </a:rPr>
              <a:t>PELT change-point on 12-month momentum, confirmed with a Chow test (F, 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04</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DATA PULLED · MARKETS</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Prices &amp; profitability, 7 tickers since 2018</a:t>
            </a:r>
          </a:p>
        </p:txBody>
      </p:sp>
      <p:sp>
        <p:nvSpPr>
          <p:cNvPr id="6" name="TextBox 5"/>
          <p:cNvSpPr txBox="1"/>
          <p:nvPr/>
        </p:nvSpPr>
        <p:spPr>
          <a:xfrm>
            <a:off x="685800" y="1572768"/>
            <a:ext cx="10241280" cy="822960"/>
          </a:xfrm>
          <a:prstGeom prst="rect">
            <a:avLst/>
          </a:prstGeom>
          <a:noFill/>
        </p:spPr>
        <p:txBody>
          <a:bodyPr wrap="square" lIns="0" rIns="0" tIns="0" bIns="0">
            <a:noAutofit/>
          </a:bodyPr>
          <a:lstStyle/>
          <a:p>
            <a:pPr algn="l">
              <a:lnSpc>
                <a:spcPct val="130000"/>
              </a:lnSpc>
              <a:spcAft>
                <a:spcPts val="0"/>
              </a:spcAft>
            </a:pPr>
            <a:r>
              <a:rPr sz="1350" b="1" i="0">
                <a:solidFill>
                  <a:srgbClr val="1D2130"/>
                </a:solidFill>
                <a:latin typeface="Courier New"/>
              </a:rPr>
              <a:t>collect_market_data.py</a:t>
            </a:r>
            <a:r>
              <a:rPr sz="1350" b="0" i="0">
                <a:solidFill>
                  <a:srgbClr val="3A3F4E"/>
                </a:solidFill>
                <a:latin typeface="Calibri"/>
              </a:rPr>
              <a:t> pulls daily close prices (via </a:t>
            </a:r>
            <a:r>
              <a:rPr sz="1350" b="0" i="0">
                <a:solidFill>
                  <a:srgbClr val="1D2130"/>
                </a:solidFill>
                <a:latin typeface="Courier New"/>
              </a:rPr>
              <a:t>yfinance</a:t>
            </a:r>
            <a:r>
              <a:rPr sz="1350" b="0" i="0">
                <a:solidFill>
                  <a:srgbClr val="3A3F4E"/>
                </a:solidFill>
                <a:latin typeface="Calibri"/>
              </a:rPr>
              <a:t>) and annual net income for seven tickers across three categories, then rebases each price series to 100 at its own start date so wildly different price levels sit on one comparable axis.</a:t>
            </a:r>
          </a:p>
        </p:txBody>
      </p:sp>
      <p:sp>
        <p:nvSpPr>
          <p:cNvPr id="7" name="TextBox 6"/>
          <p:cNvSpPr txBox="1"/>
          <p:nvPr/>
        </p:nvSpPr>
        <p:spPr>
          <a:xfrm>
            <a:off x="685800" y="2606040"/>
            <a:ext cx="237744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CATEGORY</a:t>
            </a:r>
          </a:p>
        </p:txBody>
      </p:sp>
      <p:sp>
        <p:nvSpPr>
          <p:cNvPr id="8" name="TextBox 7"/>
          <p:cNvSpPr txBox="1"/>
          <p:nvPr/>
        </p:nvSpPr>
        <p:spPr>
          <a:xfrm>
            <a:off x="3063240" y="2606040"/>
            <a:ext cx="329184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TICKERS</a:t>
            </a:r>
          </a:p>
        </p:txBody>
      </p:sp>
      <p:sp>
        <p:nvSpPr>
          <p:cNvPr id="9" name="TextBox 8"/>
          <p:cNvSpPr txBox="1"/>
          <p:nvPr/>
        </p:nvSpPr>
        <p:spPr>
          <a:xfrm>
            <a:off x="6355080" y="2606040"/>
            <a:ext cx="457200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WHAT IT TESTS</a:t>
            </a:r>
          </a:p>
        </p:txBody>
      </p:sp>
      <p:sp>
        <p:nvSpPr>
          <p:cNvPr id="10" name="Rectangle 9"/>
          <p:cNvSpPr/>
          <p:nvPr/>
        </p:nvSpPr>
        <p:spPr>
          <a:xfrm>
            <a:off x="685800" y="2916936"/>
            <a:ext cx="10241280" cy="12801"/>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971800"/>
            <a:ext cx="237744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traditional_bank</a:t>
            </a:r>
          </a:p>
        </p:txBody>
      </p:sp>
      <p:sp>
        <p:nvSpPr>
          <p:cNvPr id="12" name="TextBox 11"/>
          <p:cNvSpPr txBox="1"/>
          <p:nvPr/>
        </p:nvSpPr>
        <p:spPr>
          <a:xfrm>
            <a:off x="3063240" y="2971800"/>
            <a:ext cx="329184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JPM · HSBC · BCS</a:t>
            </a:r>
          </a:p>
        </p:txBody>
      </p:sp>
      <p:sp>
        <p:nvSpPr>
          <p:cNvPr id="13" name="TextBox 12"/>
          <p:cNvSpPr txBox="1"/>
          <p:nvPr/>
        </p:nvSpPr>
        <p:spPr>
          <a:xfrm>
            <a:off x="6355080" y="2971800"/>
            <a:ext cx="45720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Did incumbents catch back up?</a:t>
            </a:r>
          </a:p>
        </p:txBody>
      </p:sp>
      <p:sp>
        <p:nvSpPr>
          <p:cNvPr id="14" name="Rectangle 13"/>
          <p:cNvSpPr/>
          <p:nvPr/>
        </p:nvSpPr>
        <p:spPr>
          <a:xfrm>
            <a:off x="685800" y="345643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474720"/>
            <a:ext cx="237744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neobank</a:t>
            </a:r>
          </a:p>
        </p:txBody>
      </p:sp>
      <p:sp>
        <p:nvSpPr>
          <p:cNvPr id="16" name="TextBox 15"/>
          <p:cNvSpPr txBox="1"/>
          <p:nvPr/>
        </p:nvSpPr>
        <p:spPr>
          <a:xfrm>
            <a:off x="3063240" y="3474720"/>
            <a:ext cx="329184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SOFI · NU</a:t>
            </a:r>
          </a:p>
        </p:txBody>
      </p:sp>
      <p:sp>
        <p:nvSpPr>
          <p:cNvPr id="17" name="TextBox 16"/>
          <p:cNvSpPr txBox="1"/>
          <p:nvPr/>
        </p:nvSpPr>
        <p:spPr>
          <a:xfrm>
            <a:off x="6355080" y="3474720"/>
            <a:ext cx="45720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Did the challenger model hold?</a:t>
            </a:r>
          </a:p>
        </p:txBody>
      </p:sp>
      <p:sp>
        <p:nvSpPr>
          <p:cNvPr id="18" name="Rectangle 17"/>
          <p:cNvSpPr/>
          <p:nvPr/>
        </p:nvSpPr>
        <p:spPr>
          <a:xfrm>
            <a:off x="685800" y="395935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977639"/>
            <a:ext cx="237744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embedded_finance</a:t>
            </a:r>
          </a:p>
        </p:txBody>
      </p:sp>
      <p:sp>
        <p:nvSpPr>
          <p:cNvPr id="20" name="TextBox 19"/>
          <p:cNvSpPr txBox="1"/>
          <p:nvPr/>
        </p:nvSpPr>
        <p:spPr>
          <a:xfrm>
            <a:off x="3063240" y="3977639"/>
            <a:ext cx="329184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PYPL · XYZ (Block)</a:t>
            </a:r>
          </a:p>
        </p:txBody>
      </p:sp>
      <p:sp>
        <p:nvSpPr>
          <p:cNvPr id="21" name="TextBox 20"/>
          <p:cNvSpPr txBox="1"/>
          <p:nvPr/>
        </p:nvSpPr>
        <p:spPr>
          <a:xfrm>
            <a:off x="6355080" y="3977639"/>
            <a:ext cx="45720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Did the 2021 boom last?</a:t>
            </a:r>
          </a:p>
        </p:txBody>
      </p:sp>
      <p:sp>
        <p:nvSpPr>
          <p:cNvPr id="22" name="Rectangle 21"/>
          <p:cNvSpPr/>
          <p:nvPr/>
        </p:nvSpPr>
        <p:spPr>
          <a:xfrm>
            <a:off x="685800" y="446227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709160"/>
            <a:ext cx="10058400" cy="365760"/>
          </a:xfrm>
          <a:prstGeom prst="rect">
            <a:avLst/>
          </a:prstGeom>
          <a:noFill/>
        </p:spPr>
        <p:txBody>
          <a:bodyPr wrap="square" lIns="0" rIns="0" tIns="0" bIns="0">
            <a:noAutofit/>
          </a:bodyPr>
          <a:lstStyle/>
          <a:p>
            <a:pPr algn="l">
              <a:lnSpc>
                <a:spcPct val="115000"/>
              </a:lnSpc>
              <a:spcAft>
                <a:spcPts val="0"/>
              </a:spcAft>
            </a:pPr>
            <a:r>
              <a:rPr sz="1100" b="0" i="0">
                <a:solidFill>
                  <a:srgbClr val="6E6C5C"/>
                </a:solidFill>
                <a:latin typeface="Courier New"/>
              </a:rPr>
              <a:t>Outputs:  </a:t>
            </a:r>
            <a:r>
              <a:rPr sz="1100" b="1" i="0">
                <a:solidFill>
                  <a:srgbClr val="6E6C5C"/>
                </a:solidFill>
                <a:latin typeface="Courier New"/>
              </a:rPr>
              <a:t>prices.csv, fundamentals.csv, indexed_performance.csv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05</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DATA PULLED · ATTENTION &amp; FILINGS</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Search interest &amp; SEC disclosure language</a:t>
            </a:r>
          </a:p>
        </p:txBody>
      </p:sp>
      <p:sp>
        <p:nvSpPr>
          <p:cNvPr id="6" name="Rounded Rectangle 5"/>
          <p:cNvSpPr/>
          <p:nvPr/>
        </p:nvSpPr>
        <p:spPr>
          <a:xfrm>
            <a:off x="685800" y="1691640"/>
            <a:ext cx="5212080" cy="4023360"/>
          </a:xfrm>
          <a:prstGeom prst="round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1947672"/>
            <a:ext cx="4700016" cy="365760"/>
          </a:xfrm>
          <a:prstGeom prst="rect">
            <a:avLst/>
          </a:prstGeom>
          <a:noFill/>
        </p:spPr>
        <p:txBody>
          <a:bodyPr wrap="square" lIns="0" rIns="0" tIns="0" bIns="0">
            <a:noAutofit/>
          </a:bodyPr>
          <a:lstStyle/>
          <a:p>
            <a:pPr algn="l">
              <a:lnSpc>
                <a:spcPct val="115000"/>
              </a:lnSpc>
              <a:spcAft>
                <a:spcPts val="0"/>
              </a:spcAft>
            </a:pPr>
            <a:r>
              <a:rPr sz="1600" b="1" i="0">
                <a:solidFill>
                  <a:srgbClr val="1D2130"/>
                </a:solidFill>
                <a:latin typeface="Calibri"/>
              </a:rPr>
              <a:t>Google Trends</a:t>
            </a:r>
          </a:p>
        </p:txBody>
      </p:sp>
      <p:sp>
        <p:nvSpPr>
          <p:cNvPr id="8" name="TextBox 7"/>
          <p:cNvSpPr txBox="1"/>
          <p:nvPr/>
        </p:nvSpPr>
        <p:spPr>
          <a:xfrm>
            <a:off x="941832" y="2377440"/>
            <a:ext cx="4700016" cy="594360"/>
          </a:xfrm>
          <a:prstGeom prst="rect">
            <a:avLst/>
          </a:prstGeom>
          <a:noFill/>
        </p:spPr>
        <p:txBody>
          <a:bodyPr wrap="square" lIns="0" rIns="0" tIns="0" bIns="0">
            <a:noAutofit/>
          </a:bodyPr>
          <a:lstStyle/>
          <a:p>
            <a:pPr algn="l">
              <a:lnSpc>
                <a:spcPct val="125000"/>
              </a:lnSpc>
              <a:spcAft>
                <a:spcPts val="0"/>
              </a:spcAft>
            </a:pPr>
            <a:r>
              <a:rPr sz="1200" b="0" i="0">
                <a:solidFill>
                  <a:srgbClr val="1D2130"/>
                </a:solidFill>
                <a:latin typeface="Courier New"/>
              </a:rPr>
              <a:t>collect_trends.py</a:t>
            </a:r>
            <a:r>
              <a:rPr sz="1200" b="0" i="0">
                <a:solidFill>
                  <a:srgbClr val="3A3F4E"/>
                </a:solidFill>
                <a:latin typeface="Calibri"/>
              </a:rPr>
              <a:t> — weekly search interest since 2018, two keyword groups:</a:t>
            </a:r>
          </a:p>
        </p:txBody>
      </p:sp>
      <p:sp>
        <p:nvSpPr>
          <p:cNvPr id="9" name="TextBox 8"/>
          <p:cNvSpPr txBox="1"/>
          <p:nvPr/>
        </p:nvSpPr>
        <p:spPr>
          <a:xfrm>
            <a:off x="941832" y="3108960"/>
            <a:ext cx="4700016" cy="1554480"/>
          </a:xfrm>
          <a:prstGeom prst="rect">
            <a:avLst/>
          </a:prstGeom>
          <a:noFill/>
        </p:spPr>
        <p:txBody>
          <a:bodyPr wrap="square" lIns="0" rIns="0" tIns="0" bIns="0">
            <a:noAutofit/>
          </a:bodyPr>
          <a:lstStyle/>
          <a:p>
            <a:pPr algn="l">
              <a:lnSpc>
                <a:spcPct val="130000"/>
              </a:lnSpc>
              <a:spcAft>
                <a:spcPts val="1000"/>
              </a:spcAft>
            </a:pPr>
            <a:r>
              <a:rPr sz="1150" b="1" i="0">
                <a:solidFill>
                  <a:srgbClr val="3E6E64"/>
                </a:solidFill>
                <a:latin typeface="Calibri"/>
              </a:rPr>
              <a:t>Wave 1:  </a:t>
            </a:r>
            <a:r>
              <a:rPr sz="1150" b="0" i="0">
                <a:solidFill>
                  <a:srgbClr val="3A3F4E"/>
                </a:solidFill>
                <a:latin typeface="Calibri"/>
              </a:rPr>
              <a:t>“neobank”, “digital bank app”, “mobile banking”</a:t>
            </a:r>
          </a:p>
          <a:p>
            <a:pPr algn="l">
              <a:lnSpc>
                <a:spcPct val="130000"/>
              </a:lnSpc>
              <a:spcAft>
                <a:spcPts val="1000"/>
              </a:spcAft>
            </a:pPr>
            <a:r>
              <a:rPr sz="1150" b="1" i="0">
                <a:solidFill>
                  <a:srgbClr val="B6552A"/>
                </a:solidFill>
                <a:latin typeface="Calibri"/>
              </a:rPr>
              <a:t>Wave 2:  </a:t>
            </a:r>
            <a:r>
              <a:rPr sz="1150" b="0" i="0">
                <a:solidFill>
                  <a:srgbClr val="3A3F4E"/>
                </a:solidFill>
                <a:latin typeface="Calibri"/>
              </a:rPr>
              <a:t>“AI agent finance”, “agentic AI banking”, “autonomous wealth management”</a:t>
            </a:r>
          </a:p>
        </p:txBody>
      </p:sp>
      <p:sp>
        <p:nvSpPr>
          <p:cNvPr id="10" name="Rounded Rectangle 9"/>
          <p:cNvSpPr/>
          <p:nvPr/>
        </p:nvSpPr>
        <p:spPr>
          <a:xfrm>
            <a:off x="6190488" y="1691640"/>
            <a:ext cx="5212080" cy="4023360"/>
          </a:xfrm>
          <a:prstGeom prst="roundRect">
            <a:avLst/>
          </a:prstGeom>
          <a:solidFill>
            <a:srgbClr val="DFDBCC"/>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47672"/>
            <a:ext cx="4700016" cy="365760"/>
          </a:xfrm>
          <a:prstGeom prst="rect">
            <a:avLst/>
          </a:prstGeom>
          <a:noFill/>
        </p:spPr>
        <p:txBody>
          <a:bodyPr wrap="square" lIns="0" rIns="0" tIns="0" bIns="0">
            <a:noAutofit/>
          </a:bodyPr>
          <a:lstStyle/>
          <a:p>
            <a:pPr algn="l">
              <a:lnSpc>
                <a:spcPct val="115000"/>
              </a:lnSpc>
              <a:spcAft>
                <a:spcPts val="0"/>
              </a:spcAft>
            </a:pPr>
            <a:r>
              <a:rPr sz="1600" b="1" i="0">
                <a:solidFill>
                  <a:srgbClr val="1D2130"/>
                </a:solidFill>
                <a:latin typeface="Calibri"/>
              </a:rPr>
              <a:t>SEC EDGAR full-text search</a:t>
            </a:r>
          </a:p>
        </p:txBody>
      </p:sp>
      <p:sp>
        <p:nvSpPr>
          <p:cNvPr id="12" name="TextBox 11"/>
          <p:cNvSpPr txBox="1"/>
          <p:nvPr/>
        </p:nvSpPr>
        <p:spPr>
          <a:xfrm>
            <a:off x="6446520" y="2377440"/>
            <a:ext cx="4700016" cy="594360"/>
          </a:xfrm>
          <a:prstGeom prst="rect">
            <a:avLst/>
          </a:prstGeom>
          <a:noFill/>
        </p:spPr>
        <p:txBody>
          <a:bodyPr wrap="square" lIns="0" rIns="0" tIns="0" bIns="0">
            <a:noAutofit/>
          </a:bodyPr>
          <a:lstStyle/>
          <a:p>
            <a:pPr algn="l">
              <a:lnSpc>
                <a:spcPct val="125000"/>
              </a:lnSpc>
              <a:spcAft>
                <a:spcPts val="0"/>
              </a:spcAft>
            </a:pPr>
            <a:r>
              <a:rPr sz="1200" b="0" i="0">
                <a:solidFill>
                  <a:srgbClr val="1D2130"/>
                </a:solidFill>
                <a:latin typeface="Courier New"/>
              </a:rPr>
              <a:t>collect_edgar.py</a:t>
            </a:r>
            <a:r>
              <a:rPr sz="1200" b="0" i="0">
                <a:solidFill>
                  <a:srgbClr val="3A3F4E"/>
                </a:solidFill>
                <a:latin typeface="Calibri"/>
              </a:rPr>
              <a:t> — 10-K / 20-F filings, 5 companies, since 2019, two query sets:</a:t>
            </a:r>
          </a:p>
        </p:txBody>
      </p:sp>
      <p:sp>
        <p:nvSpPr>
          <p:cNvPr id="13" name="TextBox 12"/>
          <p:cNvSpPr txBox="1"/>
          <p:nvPr/>
        </p:nvSpPr>
        <p:spPr>
          <a:xfrm>
            <a:off x="6446520" y="3108960"/>
            <a:ext cx="4700016" cy="1188720"/>
          </a:xfrm>
          <a:prstGeom prst="rect">
            <a:avLst/>
          </a:prstGeom>
          <a:noFill/>
        </p:spPr>
        <p:txBody>
          <a:bodyPr wrap="square" lIns="0" rIns="0" tIns="0" bIns="0">
            <a:noAutofit/>
          </a:bodyPr>
          <a:lstStyle/>
          <a:p>
            <a:pPr algn="l">
              <a:lnSpc>
                <a:spcPct val="130000"/>
              </a:lnSpc>
              <a:spcAft>
                <a:spcPts val="1000"/>
              </a:spcAft>
            </a:pPr>
            <a:r>
              <a:rPr sz="1150" b="1" i="0">
                <a:solidFill>
                  <a:srgbClr val="B6552A"/>
                </a:solidFill>
                <a:latin typeface="Calibri"/>
              </a:rPr>
              <a:t>agentic:  </a:t>
            </a:r>
            <a:r>
              <a:rPr sz="1150" b="0" i="0">
                <a:solidFill>
                  <a:srgbClr val="3A3F4E"/>
                </a:solidFill>
                <a:latin typeface="Calibri"/>
              </a:rPr>
              <a:t>the “AI agent” phrase family — Wave-2-specific</a:t>
            </a:r>
          </a:p>
          <a:p>
            <a:pPr algn="l">
              <a:lnSpc>
                <a:spcPct val="130000"/>
              </a:lnSpc>
              <a:spcAft>
                <a:spcPts val="1000"/>
              </a:spcAft>
            </a:pPr>
            <a:r>
              <a:rPr sz="1150" b="1" i="0">
                <a:solidFill>
                  <a:srgbClr val="3E6E64"/>
                </a:solidFill>
                <a:latin typeface="Calibri"/>
              </a:rPr>
              <a:t>ai_broad:  </a:t>
            </a:r>
            <a:r>
              <a:rPr sz="1150" b="0" i="0">
                <a:solidFill>
                  <a:srgbClr val="3A3F4E"/>
                </a:solidFill>
                <a:latin typeface="Calibri"/>
              </a:rPr>
              <a:t>“artificial intelligence” — saturated baseline</a:t>
            </a:r>
          </a:p>
        </p:txBody>
      </p:sp>
      <p:sp>
        <p:nvSpPr>
          <p:cNvPr id="14" name="TextBox 13"/>
          <p:cNvSpPr txBox="1"/>
          <p:nvPr/>
        </p:nvSpPr>
        <p:spPr>
          <a:xfrm>
            <a:off x="6446520" y="4434840"/>
            <a:ext cx="4700016" cy="1097280"/>
          </a:xfrm>
          <a:prstGeom prst="rect">
            <a:avLst/>
          </a:prstGeom>
          <a:noFill/>
        </p:spPr>
        <p:txBody>
          <a:bodyPr wrap="square" lIns="0" rIns="0" tIns="0" bIns="0">
            <a:noAutofit/>
          </a:bodyPr>
          <a:lstStyle/>
          <a:p>
            <a:pPr algn="l">
              <a:lnSpc>
                <a:spcPct val="125000"/>
              </a:lnSpc>
              <a:spcAft>
                <a:spcPts val="0"/>
              </a:spcAft>
            </a:pPr>
            <a:r>
              <a:rPr sz="1050" b="0" i="0">
                <a:solidFill>
                  <a:srgbClr val="1D2130"/>
                </a:solidFill>
                <a:latin typeface="Courier New"/>
              </a:rPr>
              <a:t>collect_edgar_marketwide.py</a:t>
            </a:r>
            <a:r>
              <a:rPr sz="1050" b="0" i="0">
                <a:solidFill>
                  <a:srgbClr val="6E6C5C"/>
                </a:solidFill>
                <a:latin typeface="Calibri"/>
              </a:rPr>
              <a:t> reruns agentic with no company filter, across every 10-K filer in EDGAR.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06</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ANALYSIS</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How the index &amp; the breaks are computed</a:t>
            </a:r>
          </a:p>
        </p:txBody>
      </p:sp>
      <p:sp>
        <p:nvSpPr>
          <p:cNvPr id="6" name="TextBox 5"/>
          <p:cNvSpPr txBox="1"/>
          <p:nvPr/>
        </p:nvSpPr>
        <p:spPr>
          <a:xfrm>
            <a:off x="685800" y="1783080"/>
            <a:ext cx="246888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
            </a:r>
          </a:p>
        </p:txBody>
      </p:sp>
      <p:sp>
        <p:nvSpPr>
          <p:cNvPr id="7" name="TextBox 6"/>
          <p:cNvSpPr txBox="1"/>
          <p:nvPr/>
        </p:nvSpPr>
        <p:spPr>
          <a:xfrm>
            <a:off x="3154680" y="1783080"/>
            <a:ext cx="777240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
            </a:r>
          </a:p>
        </p:txBody>
      </p:sp>
      <p:sp>
        <p:nvSpPr>
          <p:cNvPr id="8" name="Rectangle 7"/>
          <p:cNvSpPr/>
          <p:nvPr/>
        </p:nvSpPr>
        <p:spPr>
          <a:xfrm>
            <a:off x="685800" y="2093976"/>
            <a:ext cx="10241280" cy="12801"/>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48840"/>
            <a:ext cx="246888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Wave 1 sub-index</a:t>
            </a:r>
          </a:p>
        </p:txBody>
      </p:sp>
      <p:sp>
        <p:nvSpPr>
          <p:cNvPr id="10" name="TextBox 9"/>
          <p:cNvSpPr txBox="1"/>
          <p:nvPr/>
        </p:nvSpPr>
        <p:spPr>
          <a:xfrm>
            <a:off x="3154680" y="2148840"/>
            <a:ext cx="77724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z(market relative strength) + z(Wave 1 search interest)</a:t>
            </a:r>
          </a:p>
        </p:txBody>
      </p:sp>
      <p:sp>
        <p:nvSpPr>
          <p:cNvPr id="11" name="Rectangle 10"/>
          <p:cNvSpPr/>
          <p:nvPr/>
        </p:nvSpPr>
        <p:spPr>
          <a:xfrm>
            <a:off x="685800" y="263347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651760"/>
            <a:ext cx="246888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Wave 2 sub-index</a:t>
            </a:r>
          </a:p>
        </p:txBody>
      </p:sp>
      <p:sp>
        <p:nvSpPr>
          <p:cNvPr id="13" name="TextBox 12"/>
          <p:cNvSpPr txBox="1"/>
          <p:nvPr/>
        </p:nvSpPr>
        <p:spPr>
          <a:xfrm>
            <a:off x="3154680" y="2651760"/>
            <a:ext cx="77724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z(Wave 2 search interest) + z(EDGAR ai_broad intensity)</a:t>
            </a:r>
          </a:p>
        </p:txBody>
      </p:sp>
      <p:sp>
        <p:nvSpPr>
          <p:cNvPr id="14" name="Rectangle 13"/>
          <p:cNvSpPr/>
          <p:nvPr/>
        </p:nvSpPr>
        <p:spPr>
          <a:xfrm>
            <a:off x="685800" y="313639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154680"/>
            <a:ext cx="2468880" cy="502920"/>
          </a:xfrm>
          <a:prstGeom prst="rect">
            <a:avLst/>
          </a:prstGeom>
          <a:noFill/>
        </p:spPr>
        <p:txBody>
          <a:bodyPr wrap="square" lIns="0" rIns="0" tIns="0" bIns="0" anchor="t">
            <a:noAutofit/>
          </a:bodyPr>
          <a:lstStyle/>
          <a:p>
            <a:pPr algn="l">
              <a:lnSpc>
                <a:spcPct val="115000"/>
              </a:lnSpc>
              <a:spcAft>
                <a:spcPts val="0"/>
              </a:spcAft>
            </a:pPr>
            <a:r>
              <a:rPr sz="1300" b="1" i="0">
                <a:solidFill>
                  <a:srgbClr val="1D2130"/>
                </a:solidFill>
                <a:latin typeface="Courier New"/>
              </a:rPr>
              <a:t>Composite FDI</a:t>
            </a:r>
          </a:p>
        </p:txBody>
      </p:sp>
      <p:sp>
        <p:nvSpPr>
          <p:cNvPr id="16" name="TextBox 15"/>
          <p:cNvSpPr txBox="1"/>
          <p:nvPr/>
        </p:nvSpPr>
        <p:spPr>
          <a:xfrm>
            <a:off x="3154680" y="3154680"/>
            <a:ext cx="7772400" cy="502920"/>
          </a:xfrm>
          <a:prstGeom prst="rect">
            <a:avLst/>
          </a:prstGeom>
          <a:noFill/>
        </p:spPr>
        <p:txBody>
          <a:bodyPr wrap="square" lIns="0" rIns="0" tIns="0" bIns="0" anchor="t">
            <a:noAutofit/>
          </a:bodyPr>
          <a:lstStyle/>
          <a:p>
            <a:pPr algn="l">
              <a:lnSpc>
                <a:spcPct val="115000"/>
              </a:lnSpc>
              <a:spcAft>
                <a:spcPts val="0"/>
              </a:spcAft>
            </a:pPr>
            <a:r>
              <a:rPr sz="1300" b="0" i="0">
                <a:solidFill>
                  <a:srgbClr val="3A3F4E"/>
                </a:solidFill>
                <a:latin typeface="Courier New"/>
              </a:rPr>
              <a:t>W1_WEIGHT × Wave1 + (1−W1_WEIGHT) × Wave2</a:t>
            </a:r>
          </a:p>
        </p:txBody>
      </p:sp>
      <p:sp>
        <p:nvSpPr>
          <p:cNvPr id="17" name="Rectangle 16"/>
          <p:cNvSpPr/>
          <p:nvPr/>
        </p:nvSpPr>
        <p:spPr>
          <a:xfrm>
            <a:off x="685800" y="3639312"/>
            <a:ext cx="1024128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1783080"/>
            <a:ext cx="10241280" cy="310896"/>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703320"/>
            <a:ext cx="10241280" cy="1554480"/>
          </a:xfrm>
          <a:prstGeom prst="rect">
            <a:avLst/>
          </a:prstGeom>
          <a:noFill/>
        </p:spPr>
        <p:txBody>
          <a:bodyPr wrap="square" lIns="0" rIns="0" tIns="0" bIns="0">
            <a:noAutofit/>
          </a:bodyPr>
          <a:lstStyle/>
          <a:p>
            <a:pPr algn="l">
              <a:lnSpc>
                <a:spcPct val="135000"/>
              </a:lnSpc>
              <a:spcAft>
                <a:spcPts val="0"/>
              </a:spcAft>
            </a:pPr>
            <a:r>
              <a:rPr sz="1450" b="0" i="0">
                <a:solidFill>
                  <a:srgbClr val="3A3F4E"/>
                </a:solidFill>
                <a:latin typeface="Calibri"/>
              </a:rPr>
              <a:t>Break detection runs in two stages, not one eyeballed chart: </a:t>
            </a:r>
            <a:r>
              <a:rPr sz="1450" b="1" i="0">
                <a:solidFill>
                  <a:srgbClr val="1D2130"/>
                </a:solidFill>
                <a:latin typeface="Calibri"/>
              </a:rPr>
              <a:t>PELT</a:t>
            </a:r>
            <a:r>
              <a:rPr sz="1450" b="0" i="0">
                <a:solidFill>
                  <a:srgbClr val="3A3F4E"/>
                </a:solidFill>
                <a:latin typeface="Calibri"/>
              </a:rPr>
              <a:t> (via </a:t>
            </a:r>
            <a:r>
              <a:rPr sz="1450" b="0" i="0">
                <a:solidFill>
                  <a:srgbClr val="3A3F4E"/>
                </a:solidFill>
                <a:latin typeface="Courier New"/>
              </a:rPr>
              <a:t>ruptures</a:t>
            </a:r>
            <a:r>
              <a:rPr sz="1450" b="0" i="0">
                <a:solidFill>
                  <a:srgbClr val="3A3F4E"/>
                </a:solidFill>
                <a:latin typeface="Calibri"/>
              </a:rPr>
              <a:t>) scans each sub-index’s 12-month momentum for candidate change-points, then a classical </a:t>
            </a:r>
            <a:r>
              <a:rPr sz="1450" b="1" i="0">
                <a:solidFill>
                  <a:srgbClr val="1D2130"/>
                </a:solidFill>
                <a:latin typeface="Calibri"/>
              </a:rPr>
              <a:t>Chow test</a:t>
            </a:r>
            <a:r>
              <a:rPr sz="1450" b="0" i="0">
                <a:solidFill>
                  <a:srgbClr val="3A3F4E"/>
                </a:solidFill>
                <a:latin typeface="Calibri"/>
              </a:rPr>
              <a:t> confirms each candidate is a statistically significant break in trend — reported as an F-statistic and p-value, not just a marked date.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07</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FINDING · WAVE 1</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The 2021 boom didn’t hold</a:t>
            </a:r>
          </a:p>
        </p:txBody>
      </p:sp>
      <p:sp>
        <p:nvSpPr>
          <p:cNvPr id="6" name="TextBox 5"/>
          <p:cNvSpPr txBox="1"/>
          <p:nvPr/>
        </p:nvSpPr>
        <p:spPr>
          <a:xfrm>
            <a:off x="685800" y="1737360"/>
            <a:ext cx="105156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TICKER</a:t>
            </a:r>
          </a:p>
        </p:txBody>
      </p:sp>
      <p:sp>
        <p:nvSpPr>
          <p:cNvPr id="7" name="TextBox 6"/>
          <p:cNvSpPr txBox="1"/>
          <p:nvPr/>
        </p:nvSpPr>
        <p:spPr>
          <a:xfrm>
            <a:off x="1737360" y="1737360"/>
            <a:ext cx="141732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CATEGORY</a:t>
            </a:r>
          </a:p>
        </p:txBody>
      </p:sp>
      <p:sp>
        <p:nvSpPr>
          <p:cNvPr id="8" name="TextBox 7"/>
          <p:cNvSpPr txBox="1"/>
          <p:nvPr/>
        </p:nvSpPr>
        <p:spPr>
          <a:xfrm>
            <a:off x="3154680" y="1737360"/>
            <a:ext cx="96012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PEAK(IDX)</a:t>
            </a:r>
          </a:p>
        </p:txBody>
      </p:sp>
      <p:sp>
        <p:nvSpPr>
          <p:cNvPr id="9" name="TextBox 8"/>
          <p:cNvSpPr txBox="1"/>
          <p:nvPr/>
        </p:nvSpPr>
        <p:spPr>
          <a:xfrm>
            <a:off x="4114800" y="1737360"/>
            <a:ext cx="105156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PEAK DATE</a:t>
            </a:r>
          </a:p>
        </p:txBody>
      </p:sp>
      <p:sp>
        <p:nvSpPr>
          <p:cNvPr id="10" name="TextBox 9"/>
          <p:cNvSpPr txBox="1"/>
          <p:nvPr/>
        </p:nvSpPr>
        <p:spPr>
          <a:xfrm>
            <a:off x="5166360" y="1737360"/>
            <a:ext cx="1600200" cy="310896"/>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VALUE 7/2/26</a:t>
            </a:r>
          </a:p>
        </p:txBody>
      </p:sp>
      <p:sp>
        <p:nvSpPr>
          <p:cNvPr id="11" name="Rectangle 10"/>
          <p:cNvSpPr/>
          <p:nvPr/>
        </p:nvSpPr>
        <p:spPr>
          <a:xfrm>
            <a:off x="685800" y="2048255"/>
            <a:ext cx="6080760" cy="12801"/>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103120"/>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XYZ (Block)</a:t>
            </a:r>
          </a:p>
        </p:txBody>
      </p:sp>
      <p:sp>
        <p:nvSpPr>
          <p:cNvPr id="13" name="TextBox 12"/>
          <p:cNvSpPr txBox="1"/>
          <p:nvPr/>
        </p:nvSpPr>
        <p:spPr>
          <a:xfrm>
            <a:off x="1737360" y="2103120"/>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embedded fin.</a:t>
            </a:r>
          </a:p>
        </p:txBody>
      </p:sp>
      <p:sp>
        <p:nvSpPr>
          <p:cNvPr id="14" name="TextBox 13"/>
          <p:cNvSpPr txBox="1"/>
          <p:nvPr/>
        </p:nvSpPr>
        <p:spPr>
          <a:xfrm>
            <a:off x="3154680" y="2103120"/>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779</a:t>
            </a:r>
          </a:p>
        </p:txBody>
      </p:sp>
      <p:sp>
        <p:nvSpPr>
          <p:cNvPr id="15" name="TextBox 14"/>
          <p:cNvSpPr txBox="1"/>
          <p:nvPr/>
        </p:nvSpPr>
        <p:spPr>
          <a:xfrm>
            <a:off x="4114800" y="2103120"/>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2021-08-05</a:t>
            </a:r>
          </a:p>
        </p:txBody>
      </p:sp>
      <p:sp>
        <p:nvSpPr>
          <p:cNvPr id="16" name="TextBox 15"/>
          <p:cNvSpPr txBox="1"/>
          <p:nvPr/>
        </p:nvSpPr>
        <p:spPr>
          <a:xfrm>
            <a:off x="5166360" y="2103120"/>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B6552A"/>
                </a:solidFill>
                <a:latin typeface="Courier New"/>
              </a:rPr>
              <a:t>218</a:t>
            </a:r>
          </a:p>
        </p:txBody>
      </p:sp>
      <p:sp>
        <p:nvSpPr>
          <p:cNvPr id="17" name="Rectangle 16"/>
          <p:cNvSpPr/>
          <p:nvPr/>
        </p:nvSpPr>
        <p:spPr>
          <a:xfrm>
            <a:off x="685800" y="2450591"/>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468879"/>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PYPL</a:t>
            </a:r>
          </a:p>
        </p:txBody>
      </p:sp>
      <p:sp>
        <p:nvSpPr>
          <p:cNvPr id="19" name="TextBox 18"/>
          <p:cNvSpPr txBox="1"/>
          <p:nvPr/>
        </p:nvSpPr>
        <p:spPr>
          <a:xfrm>
            <a:off x="1737360" y="2468879"/>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embedded fin.</a:t>
            </a:r>
          </a:p>
        </p:txBody>
      </p:sp>
      <p:sp>
        <p:nvSpPr>
          <p:cNvPr id="20" name="TextBox 19"/>
          <p:cNvSpPr txBox="1"/>
          <p:nvPr/>
        </p:nvSpPr>
        <p:spPr>
          <a:xfrm>
            <a:off x="3154680" y="2468879"/>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418</a:t>
            </a:r>
          </a:p>
        </p:txBody>
      </p:sp>
      <p:sp>
        <p:nvSpPr>
          <p:cNvPr id="21" name="TextBox 20"/>
          <p:cNvSpPr txBox="1"/>
          <p:nvPr/>
        </p:nvSpPr>
        <p:spPr>
          <a:xfrm>
            <a:off x="4114800" y="2468879"/>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2021-07-23</a:t>
            </a:r>
          </a:p>
        </p:txBody>
      </p:sp>
      <p:sp>
        <p:nvSpPr>
          <p:cNvPr id="22" name="TextBox 21"/>
          <p:cNvSpPr txBox="1"/>
          <p:nvPr/>
        </p:nvSpPr>
        <p:spPr>
          <a:xfrm>
            <a:off x="5166360" y="2468879"/>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B6552A"/>
                </a:solidFill>
                <a:latin typeface="Courier New"/>
              </a:rPr>
              <a:t>62 ↓ start</a:t>
            </a:r>
          </a:p>
        </p:txBody>
      </p:sp>
      <p:sp>
        <p:nvSpPr>
          <p:cNvPr id="23" name="Rectangle 22"/>
          <p:cNvSpPr/>
          <p:nvPr/>
        </p:nvSpPr>
        <p:spPr>
          <a:xfrm>
            <a:off x="685800" y="2816351"/>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2834639"/>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SOFI</a:t>
            </a:r>
          </a:p>
        </p:txBody>
      </p:sp>
      <p:sp>
        <p:nvSpPr>
          <p:cNvPr id="25" name="TextBox 24"/>
          <p:cNvSpPr txBox="1"/>
          <p:nvPr/>
        </p:nvSpPr>
        <p:spPr>
          <a:xfrm>
            <a:off x="1737360" y="2834639"/>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neobank</a:t>
            </a:r>
          </a:p>
        </p:txBody>
      </p:sp>
      <p:sp>
        <p:nvSpPr>
          <p:cNvPr id="26" name="TextBox 25"/>
          <p:cNvSpPr txBox="1"/>
          <p:nvPr/>
        </p:nvSpPr>
        <p:spPr>
          <a:xfrm>
            <a:off x="3154680" y="2834639"/>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264</a:t>
            </a:r>
          </a:p>
        </p:txBody>
      </p:sp>
      <p:sp>
        <p:nvSpPr>
          <p:cNvPr id="27" name="TextBox 26"/>
          <p:cNvSpPr txBox="1"/>
          <p:nvPr/>
        </p:nvSpPr>
        <p:spPr>
          <a:xfrm>
            <a:off x="4114800" y="2834639"/>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2025-11-12</a:t>
            </a:r>
          </a:p>
        </p:txBody>
      </p:sp>
      <p:sp>
        <p:nvSpPr>
          <p:cNvPr id="28" name="TextBox 27"/>
          <p:cNvSpPr txBox="1"/>
          <p:nvPr/>
        </p:nvSpPr>
        <p:spPr>
          <a:xfrm>
            <a:off x="5166360" y="2834639"/>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150</a:t>
            </a:r>
          </a:p>
        </p:txBody>
      </p:sp>
      <p:sp>
        <p:nvSpPr>
          <p:cNvPr id="29" name="Rectangle 28"/>
          <p:cNvSpPr/>
          <p:nvPr/>
        </p:nvSpPr>
        <p:spPr>
          <a:xfrm>
            <a:off x="685800" y="3182111"/>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200399"/>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NU</a:t>
            </a:r>
          </a:p>
        </p:txBody>
      </p:sp>
      <p:sp>
        <p:nvSpPr>
          <p:cNvPr id="31" name="TextBox 30"/>
          <p:cNvSpPr txBox="1"/>
          <p:nvPr/>
        </p:nvSpPr>
        <p:spPr>
          <a:xfrm>
            <a:off x="1737360" y="3200399"/>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neobank</a:t>
            </a:r>
          </a:p>
        </p:txBody>
      </p:sp>
      <p:sp>
        <p:nvSpPr>
          <p:cNvPr id="32" name="TextBox 31"/>
          <p:cNvSpPr txBox="1"/>
          <p:nvPr/>
        </p:nvSpPr>
        <p:spPr>
          <a:xfrm>
            <a:off x="3154680" y="3200399"/>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182</a:t>
            </a:r>
          </a:p>
        </p:txBody>
      </p:sp>
      <p:sp>
        <p:nvSpPr>
          <p:cNvPr id="33" name="TextBox 32"/>
          <p:cNvSpPr txBox="1"/>
          <p:nvPr/>
        </p:nvSpPr>
        <p:spPr>
          <a:xfrm>
            <a:off x="4114800" y="3200399"/>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2026-01-28</a:t>
            </a:r>
          </a:p>
        </p:txBody>
      </p:sp>
      <p:sp>
        <p:nvSpPr>
          <p:cNvPr id="34" name="TextBox 33"/>
          <p:cNvSpPr txBox="1"/>
          <p:nvPr/>
        </p:nvSpPr>
        <p:spPr>
          <a:xfrm>
            <a:off x="5166360" y="3200399"/>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132</a:t>
            </a:r>
          </a:p>
        </p:txBody>
      </p:sp>
      <p:sp>
        <p:nvSpPr>
          <p:cNvPr id="35" name="Rectangle 34"/>
          <p:cNvSpPr/>
          <p:nvPr/>
        </p:nvSpPr>
        <p:spPr>
          <a:xfrm>
            <a:off x="685800" y="3547871"/>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3566159"/>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JPM</a:t>
            </a:r>
          </a:p>
        </p:txBody>
      </p:sp>
      <p:sp>
        <p:nvSpPr>
          <p:cNvPr id="37" name="TextBox 36"/>
          <p:cNvSpPr txBox="1"/>
          <p:nvPr/>
        </p:nvSpPr>
        <p:spPr>
          <a:xfrm>
            <a:off x="1737360" y="3566159"/>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trad. bank</a:t>
            </a:r>
          </a:p>
        </p:txBody>
      </p:sp>
      <p:sp>
        <p:nvSpPr>
          <p:cNvPr id="38" name="TextBox 37"/>
          <p:cNvSpPr txBox="1"/>
          <p:nvPr/>
        </p:nvSpPr>
        <p:spPr>
          <a:xfrm>
            <a:off x="3154680" y="3566159"/>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a:t>
            </a:r>
          </a:p>
        </p:txBody>
      </p:sp>
      <p:sp>
        <p:nvSpPr>
          <p:cNvPr id="39" name="TextBox 38"/>
          <p:cNvSpPr txBox="1"/>
          <p:nvPr/>
        </p:nvSpPr>
        <p:spPr>
          <a:xfrm>
            <a:off x="4114800" y="3566159"/>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steady climb</a:t>
            </a:r>
          </a:p>
        </p:txBody>
      </p:sp>
      <p:sp>
        <p:nvSpPr>
          <p:cNvPr id="40" name="TextBox 39"/>
          <p:cNvSpPr txBox="1"/>
          <p:nvPr/>
        </p:nvSpPr>
        <p:spPr>
          <a:xfrm>
            <a:off x="5166360" y="3566159"/>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E6E64"/>
                </a:solidFill>
                <a:latin typeface="Courier New"/>
              </a:rPr>
              <a:t>389 ↑ best</a:t>
            </a:r>
          </a:p>
        </p:txBody>
      </p:sp>
      <p:sp>
        <p:nvSpPr>
          <p:cNvPr id="41" name="Rectangle 40"/>
          <p:cNvSpPr/>
          <p:nvPr/>
        </p:nvSpPr>
        <p:spPr>
          <a:xfrm>
            <a:off x="685800" y="3913632"/>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3931920"/>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BCS</a:t>
            </a:r>
          </a:p>
        </p:txBody>
      </p:sp>
      <p:sp>
        <p:nvSpPr>
          <p:cNvPr id="43" name="TextBox 42"/>
          <p:cNvSpPr txBox="1"/>
          <p:nvPr/>
        </p:nvSpPr>
        <p:spPr>
          <a:xfrm>
            <a:off x="1737360" y="3931920"/>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trad. bank</a:t>
            </a:r>
          </a:p>
        </p:txBody>
      </p:sp>
      <p:sp>
        <p:nvSpPr>
          <p:cNvPr id="44" name="TextBox 43"/>
          <p:cNvSpPr txBox="1"/>
          <p:nvPr/>
        </p:nvSpPr>
        <p:spPr>
          <a:xfrm>
            <a:off x="3154680" y="3931920"/>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a:t>
            </a:r>
          </a:p>
        </p:txBody>
      </p:sp>
      <p:sp>
        <p:nvSpPr>
          <p:cNvPr id="45" name="TextBox 44"/>
          <p:cNvSpPr txBox="1"/>
          <p:nvPr/>
        </p:nvSpPr>
        <p:spPr>
          <a:xfrm>
            <a:off x="4114800" y="3931920"/>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steady climb</a:t>
            </a:r>
          </a:p>
        </p:txBody>
      </p:sp>
      <p:sp>
        <p:nvSpPr>
          <p:cNvPr id="46" name="TextBox 45"/>
          <p:cNvSpPr txBox="1"/>
          <p:nvPr/>
        </p:nvSpPr>
        <p:spPr>
          <a:xfrm>
            <a:off x="5166360" y="3931920"/>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E6E64"/>
                </a:solidFill>
                <a:latin typeface="Courier New"/>
              </a:rPr>
              <a:t>335</a:t>
            </a:r>
          </a:p>
        </p:txBody>
      </p:sp>
      <p:sp>
        <p:nvSpPr>
          <p:cNvPr id="47" name="Rectangle 46"/>
          <p:cNvSpPr/>
          <p:nvPr/>
        </p:nvSpPr>
        <p:spPr>
          <a:xfrm>
            <a:off x="685800" y="4279392"/>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85800" y="4297680"/>
            <a:ext cx="1051560" cy="365760"/>
          </a:xfrm>
          <a:prstGeom prst="rect">
            <a:avLst/>
          </a:prstGeom>
          <a:noFill/>
        </p:spPr>
        <p:txBody>
          <a:bodyPr wrap="square" lIns="0" rIns="0" tIns="0" bIns="0" anchor="t">
            <a:noAutofit/>
          </a:bodyPr>
          <a:lstStyle/>
          <a:p>
            <a:pPr algn="l">
              <a:lnSpc>
                <a:spcPct val="115000"/>
              </a:lnSpc>
              <a:spcAft>
                <a:spcPts val="0"/>
              </a:spcAft>
            </a:pPr>
            <a:r>
              <a:rPr sz="1050" b="1" i="0">
                <a:solidFill>
                  <a:srgbClr val="1D2130"/>
                </a:solidFill>
                <a:latin typeface="Courier New"/>
              </a:rPr>
              <a:t>HSBC</a:t>
            </a:r>
          </a:p>
        </p:txBody>
      </p:sp>
      <p:sp>
        <p:nvSpPr>
          <p:cNvPr id="49" name="TextBox 48"/>
          <p:cNvSpPr txBox="1"/>
          <p:nvPr/>
        </p:nvSpPr>
        <p:spPr>
          <a:xfrm>
            <a:off x="1737360" y="4297680"/>
            <a:ext cx="14173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trad. bank</a:t>
            </a:r>
          </a:p>
        </p:txBody>
      </p:sp>
      <p:sp>
        <p:nvSpPr>
          <p:cNvPr id="50" name="TextBox 49"/>
          <p:cNvSpPr txBox="1"/>
          <p:nvPr/>
        </p:nvSpPr>
        <p:spPr>
          <a:xfrm>
            <a:off x="3154680" y="4297680"/>
            <a:ext cx="96012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a:t>
            </a:r>
          </a:p>
        </p:txBody>
      </p:sp>
      <p:sp>
        <p:nvSpPr>
          <p:cNvPr id="51" name="TextBox 50"/>
          <p:cNvSpPr txBox="1"/>
          <p:nvPr/>
        </p:nvSpPr>
        <p:spPr>
          <a:xfrm>
            <a:off x="4114800" y="4297680"/>
            <a:ext cx="105156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A3F4E"/>
                </a:solidFill>
                <a:latin typeface="Courier New"/>
              </a:rPr>
              <a:t>steady climb</a:t>
            </a:r>
          </a:p>
        </p:txBody>
      </p:sp>
      <p:sp>
        <p:nvSpPr>
          <p:cNvPr id="52" name="TextBox 51"/>
          <p:cNvSpPr txBox="1"/>
          <p:nvPr/>
        </p:nvSpPr>
        <p:spPr>
          <a:xfrm>
            <a:off x="5166360" y="4297680"/>
            <a:ext cx="1600200" cy="365760"/>
          </a:xfrm>
          <a:prstGeom prst="rect">
            <a:avLst/>
          </a:prstGeom>
          <a:noFill/>
        </p:spPr>
        <p:txBody>
          <a:bodyPr wrap="square" lIns="0" rIns="0" tIns="0" bIns="0" anchor="t">
            <a:noAutofit/>
          </a:bodyPr>
          <a:lstStyle/>
          <a:p>
            <a:pPr algn="l">
              <a:lnSpc>
                <a:spcPct val="115000"/>
              </a:lnSpc>
              <a:spcAft>
                <a:spcPts val="0"/>
              </a:spcAft>
            </a:pPr>
            <a:r>
              <a:rPr sz="1050" b="0" i="0">
                <a:solidFill>
                  <a:srgbClr val="3E6E64"/>
                </a:solidFill>
                <a:latin typeface="Courier New"/>
              </a:rPr>
              <a:t>299</a:t>
            </a:r>
          </a:p>
        </p:txBody>
      </p:sp>
      <p:sp>
        <p:nvSpPr>
          <p:cNvPr id="53" name="Rectangle 52"/>
          <p:cNvSpPr/>
          <p:nvPr/>
        </p:nvSpPr>
        <p:spPr>
          <a:xfrm>
            <a:off x="685800" y="4645152"/>
            <a:ext cx="6080760"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424928" y="1709928"/>
            <a:ext cx="4123944" cy="2432304"/>
          </a:xfrm>
          <a:prstGeom prst="rect">
            <a:avLst/>
          </a:prstGeom>
          <a:solidFill>
            <a:srgbClr val="FFFFFF"/>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5" name="Picture 54" descr="indexed_performance.png"/>
          <p:cNvPicPr>
            <a:picLocks noChangeAspect="1"/>
          </p:cNvPicPr>
          <p:nvPr/>
        </p:nvPicPr>
        <p:blipFill>
          <a:blip r:embed="rId2"/>
          <a:stretch>
            <a:fillRect/>
          </a:stretch>
        </p:blipFill>
        <p:spPr>
          <a:xfrm>
            <a:off x="7452360" y="1737360"/>
            <a:ext cx="4069080" cy="2377440"/>
          </a:xfrm>
          <a:prstGeom prst="rect">
            <a:avLst/>
          </a:prstGeom>
        </p:spPr>
      </p:pic>
      <p:sp>
        <p:nvSpPr>
          <p:cNvPr id="56" name="TextBox 55"/>
          <p:cNvSpPr txBox="1"/>
          <p:nvPr/>
        </p:nvSpPr>
        <p:spPr>
          <a:xfrm>
            <a:off x="7452360" y="4187952"/>
            <a:ext cx="4069080" cy="320040"/>
          </a:xfrm>
          <a:prstGeom prst="rect">
            <a:avLst/>
          </a:prstGeom>
          <a:noFill/>
        </p:spPr>
        <p:txBody>
          <a:bodyPr wrap="square" lIns="0" rIns="0" tIns="0" bIns="0">
            <a:noAutofit/>
          </a:bodyPr>
          <a:lstStyle/>
          <a:p>
            <a:pPr algn="l">
              <a:lnSpc>
                <a:spcPct val="115000"/>
              </a:lnSpc>
              <a:spcAft>
                <a:spcPts val="0"/>
              </a:spcAft>
            </a:pPr>
            <a:r>
              <a:rPr sz="950" b="1" i="0">
                <a:solidFill>
                  <a:srgbClr val="1D2130"/>
                </a:solidFill>
                <a:latin typeface="Courier New"/>
              </a:rPr>
              <a:t>Exhibit A   </a:t>
            </a:r>
            <a:r>
              <a:rPr sz="950" b="0" i="0">
                <a:solidFill>
                  <a:srgbClr val="6E6C5C"/>
                </a:solidFill>
                <a:latin typeface="Courier New"/>
              </a:rPr>
              <a:t>Indexed performance, rebased to 100 at start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08</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FINDING · WAVE 1</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A dated rollover, and a losing year</a:t>
            </a:r>
          </a:p>
        </p:txBody>
      </p:sp>
      <p:sp>
        <p:nvSpPr>
          <p:cNvPr id="6" name="TextBox 5"/>
          <p:cNvSpPr txBox="1"/>
          <p:nvPr/>
        </p:nvSpPr>
        <p:spPr>
          <a:xfrm>
            <a:off x="685800" y="1572768"/>
            <a:ext cx="3657600" cy="274320"/>
          </a:xfrm>
          <a:prstGeom prst="rect">
            <a:avLst/>
          </a:prstGeom>
          <a:noFill/>
        </p:spPr>
        <p:txBody>
          <a:bodyPr wrap="square" lIns="0" rIns="0" tIns="0" bIns="0">
            <a:noAutofit/>
          </a:bodyPr>
          <a:lstStyle/>
          <a:p>
            <a:pPr algn="l">
              <a:lnSpc>
                <a:spcPct val="115000"/>
              </a:lnSpc>
              <a:spcAft>
                <a:spcPts val="0"/>
              </a:spcAft>
            </a:pPr>
            <a:r>
              <a:rPr sz="950" b="0" i="0">
                <a:solidFill>
                  <a:srgbClr val="6E6C5C"/>
                </a:solidFill>
                <a:latin typeface="Courier New"/>
              </a:rPr>
              <a:t>STRUCTURAL BREAK</a:t>
            </a:r>
          </a:p>
        </p:txBody>
      </p:sp>
      <p:sp>
        <p:nvSpPr>
          <p:cNvPr id="7" name="TextBox 6"/>
          <p:cNvSpPr txBox="1"/>
          <p:nvPr/>
        </p:nvSpPr>
        <p:spPr>
          <a:xfrm>
            <a:off x="6172200" y="1572768"/>
            <a:ext cx="4572000" cy="274320"/>
          </a:xfrm>
          <a:prstGeom prst="rect">
            <a:avLst/>
          </a:prstGeom>
          <a:noFill/>
        </p:spPr>
        <p:txBody>
          <a:bodyPr wrap="square" lIns="0" rIns="0" tIns="0" bIns="0">
            <a:noAutofit/>
          </a:bodyPr>
          <a:lstStyle/>
          <a:p>
            <a:pPr algn="l">
              <a:lnSpc>
                <a:spcPct val="115000"/>
              </a:lnSpc>
              <a:spcAft>
                <a:spcPts val="0"/>
              </a:spcAft>
            </a:pPr>
            <a:r>
              <a:rPr sz="950" b="0" i="0">
                <a:solidFill>
                  <a:srgbClr val="6E6C5C"/>
                </a:solidFill>
                <a:latin typeface="Courier New"/>
              </a:rPr>
              <a:t>2022 NET INCOME</a:t>
            </a:r>
          </a:p>
        </p:txBody>
      </p:sp>
      <p:sp>
        <p:nvSpPr>
          <p:cNvPr id="8" name="TextBox 7"/>
          <p:cNvSpPr txBox="1"/>
          <p:nvPr/>
        </p:nvSpPr>
        <p:spPr>
          <a:xfrm>
            <a:off x="685800" y="1901952"/>
            <a:ext cx="5212080" cy="1691640"/>
          </a:xfrm>
          <a:prstGeom prst="rect">
            <a:avLst/>
          </a:prstGeom>
          <a:noFill/>
        </p:spPr>
        <p:txBody>
          <a:bodyPr wrap="square" lIns="0" rIns="0" tIns="0" bIns="0">
            <a:noAutofit/>
          </a:bodyPr>
          <a:lstStyle/>
          <a:p>
            <a:pPr algn="l">
              <a:lnSpc>
                <a:spcPct val="130000"/>
              </a:lnSpc>
              <a:spcAft>
                <a:spcPts val="800"/>
              </a:spcAft>
            </a:pPr>
            <a:r>
              <a:rPr sz="1150" b="1" i="0">
                <a:solidFill>
                  <a:srgbClr val="1D2130"/>
                </a:solidFill>
                <a:latin typeface="Calibri"/>
              </a:rPr>
              <a:t>April 2021</a:t>
            </a:r>
            <a:r>
              <a:rPr sz="1150" b="0" i="0">
                <a:solidFill>
                  <a:srgbClr val="3A3F4E"/>
                </a:solidFill>
                <a:latin typeface="Calibri"/>
              </a:rPr>
              <a:t>  —  F = 9.094, p &lt; 0.001. Wave 1 index rolls over from rising to declining.</a:t>
            </a:r>
          </a:p>
          <a:p>
            <a:pPr algn="l">
              <a:lnSpc>
                <a:spcPct val="130000"/>
              </a:lnSpc>
              <a:spcAft>
                <a:spcPts val="800"/>
              </a:spcAft>
            </a:pPr>
            <a:r>
              <a:rPr sz="1150" b="1" i="0">
                <a:solidFill>
                  <a:srgbClr val="1D2130"/>
                </a:solidFill>
                <a:latin typeface="Calibri"/>
              </a:rPr>
              <a:t>June 2025</a:t>
            </a:r>
            <a:r>
              <a:rPr sz="1150" b="0" i="0">
                <a:solidFill>
                  <a:srgbClr val="3A3F4E"/>
                </a:solidFill>
                <a:latin typeface="Calibri"/>
              </a:rPr>
              <a:t>  —  F = 54.151, p &lt; 0.001. Partial, abrupt rebound.</a:t>
            </a:r>
          </a:p>
          <a:p>
            <a:pPr algn="l">
              <a:lnSpc>
                <a:spcPct val="130000"/>
              </a:lnSpc>
              <a:spcAft>
                <a:spcPts val="800"/>
              </a:spcAft>
            </a:pPr>
            <a:r>
              <a:rPr sz="1150" b="0" i="0">
                <a:solidFill>
                  <a:srgbClr val="3A3F4E"/>
                </a:solidFill>
                <a:latin typeface="Calibri"/>
              </a:rPr>
              <a:t>Momentum is negative through most of 2021–2025 — literally losing ground year over year.</a:t>
            </a:r>
          </a:p>
        </p:txBody>
      </p:sp>
      <p:sp>
        <p:nvSpPr>
          <p:cNvPr id="9" name="TextBox 8"/>
          <p:cNvSpPr txBox="1"/>
          <p:nvPr/>
        </p:nvSpPr>
        <p:spPr>
          <a:xfrm>
            <a:off x="6172200" y="1901952"/>
            <a:ext cx="2103120" cy="18288"/>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
            </a:r>
          </a:p>
        </p:txBody>
      </p:sp>
      <p:sp>
        <p:nvSpPr>
          <p:cNvPr id="10" name="TextBox 9"/>
          <p:cNvSpPr txBox="1"/>
          <p:nvPr/>
        </p:nvSpPr>
        <p:spPr>
          <a:xfrm>
            <a:off x="8275320" y="1901952"/>
            <a:ext cx="1645920" cy="18288"/>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
            </a:r>
          </a:p>
        </p:txBody>
      </p:sp>
      <p:sp>
        <p:nvSpPr>
          <p:cNvPr id="11" name="Rectangle 10"/>
          <p:cNvSpPr/>
          <p:nvPr/>
        </p:nvSpPr>
        <p:spPr>
          <a:xfrm>
            <a:off x="6172200" y="1920240"/>
            <a:ext cx="3749039" cy="12801"/>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975104"/>
            <a:ext cx="2103120" cy="310896"/>
          </a:xfrm>
          <a:prstGeom prst="rect">
            <a:avLst/>
          </a:prstGeom>
          <a:noFill/>
        </p:spPr>
        <p:txBody>
          <a:bodyPr wrap="square" lIns="0" rIns="0" tIns="0" bIns="0" anchor="t">
            <a:noAutofit/>
          </a:bodyPr>
          <a:lstStyle/>
          <a:p>
            <a:pPr algn="l">
              <a:lnSpc>
                <a:spcPct val="115000"/>
              </a:lnSpc>
              <a:spcAft>
                <a:spcPts val="0"/>
              </a:spcAft>
            </a:pPr>
            <a:r>
              <a:rPr sz="1150" b="1" i="0">
                <a:solidFill>
                  <a:srgbClr val="1D2130"/>
                </a:solidFill>
                <a:latin typeface="Courier New"/>
              </a:rPr>
              <a:t>SOFI</a:t>
            </a:r>
          </a:p>
        </p:txBody>
      </p:sp>
      <p:sp>
        <p:nvSpPr>
          <p:cNvPr id="13" name="TextBox 12"/>
          <p:cNvSpPr txBox="1"/>
          <p:nvPr/>
        </p:nvSpPr>
        <p:spPr>
          <a:xfrm>
            <a:off x="8275320" y="1975104"/>
            <a:ext cx="1645920" cy="310896"/>
          </a:xfrm>
          <a:prstGeom prst="rect">
            <a:avLst/>
          </a:prstGeom>
          <a:noFill/>
        </p:spPr>
        <p:txBody>
          <a:bodyPr wrap="square" lIns="0" rIns="0" tIns="0" bIns="0" anchor="t">
            <a:noAutofit/>
          </a:bodyPr>
          <a:lstStyle/>
          <a:p>
            <a:pPr algn="l">
              <a:lnSpc>
                <a:spcPct val="115000"/>
              </a:lnSpc>
              <a:spcAft>
                <a:spcPts val="0"/>
              </a:spcAft>
            </a:pPr>
            <a:r>
              <a:rPr sz="1150" b="0" i="0">
                <a:solidFill>
                  <a:srgbClr val="B6552A"/>
                </a:solidFill>
                <a:latin typeface="Courier New"/>
              </a:rPr>
              <a:t>−$320M</a:t>
            </a:r>
          </a:p>
        </p:txBody>
      </p:sp>
      <p:sp>
        <p:nvSpPr>
          <p:cNvPr id="14" name="Rectangle 13"/>
          <p:cNvSpPr/>
          <p:nvPr/>
        </p:nvSpPr>
        <p:spPr>
          <a:xfrm>
            <a:off x="6172200" y="2267712"/>
            <a:ext cx="3749039"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2286000"/>
            <a:ext cx="2103120" cy="310896"/>
          </a:xfrm>
          <a:prstGeom prst="rect">
            <a:avLst/>
          </a:prstGeom>
          <a:noFill/>
        </p:spPr>
        <p:txBody>
          <a:bodyPr wrap="square" lIns="0" rIns="0" tIns="0" bIns="0" anchor="t">
            <a:noAutofit/>
          </a:bodyPr>
          <a:lstStyle/>
          <a:p>
            <a:pPr algn="l">
              <a:lnSpc>
                <a:spcPct val="115000"/>
              </a:lnSpc>
              <a:spcAft>
                <a:spcPts val="0"/>
              </a:spcAft>
            </a:pPr>
            <a:r>
              <a:rPr sz="1150" b="1" i="0">
                <a:solidFill>
                  <a:srgbClr val="1D2130"/>
                </a:solidFill>
                <a:latin typeface="Courier New"/>
              </a:rPr>
              <a:t>XYZ (Block)</a:t>
            </a:r>
          </a:p>
        </p:txBody>
      </p:sp>
      <p:sp>
        <p:nvSpPr>
          <p:cNvPr id="16" name="TextBox 15"/>
          <p:cNvSpPr txBox="1"/>
          <p:nvPr/>
        </p:nvSpPr>
        <p:spPr>
          <a:xfrm>
            <a:off x="8275320" y="2286000"/>
            <a:ext cx="1645920" cy="310896"/>
          </a:xfrm>
          <a:prstGeom prst="rect">
            <a:avLst/>
          </a:prstGeom>
          <a:noFill/>
        </p:spPr>
        <p:txBody>
          <a:bodyPr wrap="square" lIns="0" rIns="0" tIns="0" bIns="0" anchor="t">
            <a:noAutofit/>
          </a:bodyPr>
          <a:lstStyle/>
          <a:p>
            <a:pPr algn="l">
              <a:lnSpc>
                <a:spcPct val="115000"/>
              </a:lnSpc>
              <a:spcAft>
                <a:spcPts val="0"/>
              </a:spcAft>
            </a:pPr>
            <a:r>
              <a:rPr sz="1150" b="0" i="0">
                <a:solidFill>
                  <a:srgbClr val="B6552A"/>
                </a:solidFill>
                <a:latin typeface="Courier New"/>
              </a:rPr>
              <a:t>−$541M</a:t>
            </a:r>
          </a:p>
        </p:txBody>
      </p:sp>
      <p:sp>
        <p:nvSpPr>
          <p:cNvPr id="17" name="Rectangle 16"/>
          <p:cNvSpPr/>
          <p:nvPr/>
        </p:nvSpPr>
        <p:spPr>
          <a:xfrm>
            <a:off x="6172200" y="2578608"/>
            <a:ext cx="3749039"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2200" y="2596896"/>
            <a:ext cx="2103120" cy="310896"/>
          </a:xfrm>
          <a:prstGeom prst="rect">
            <a:avLst/>
          </a:prstGeom>
          <a:noFill/>
        </p:spPr>
        <p:txBody>
          <a:bodyPr wrap="square" lIns="0" rIns="0" tIns="0" bIns="0" anchor="t">
            <a:noAutofit/>
          </a:bodyPr>
          <a:lstStyle/>
          <a:p>
            <a:pPr algn="l">
              <a:lnSpc>
                <a:spcPct val="115000"/>
              </a:lnSpc>
              <a:spcAft>
                <a:spcPts val="0"/>
              </a:spcAft>
            </a:pPr>
            <a:r>
              <a:rPr sz="1150" b="1" i="0">
                <a:solidFill>
                  <a:srgbClr val="1D2130"/>
                </a:solidFill>
                <a:latin typeface="Courier New"/>
              </a:rPr>
              <a:t>NU (Nubank)</a:t>
            </a:r>
          </a:p>
        </p:txBody>
      </p:sp>
      <p:sp>
        <p:nvSpPr>
          <p:cNvPr id="19" name="TextBox 18"/>
          <p:cNvSpPr txBox="1"/>
          <p:nvPr/>
        </p:nvSpPr>
        <p:spPr>
          <a:xfrm>
            <a:off x="8275320" y="2596896"/>
            <a:ext cx="1645920" cy="310896"/>
          </a:xfrm>
          <a:prstGeom prst="rect">
            <a:avLst/>
          </a:prstGeom>
          <a:noFill/>
        </p:spPr>
        <p:txBody>
          <a:bodyPr wrap="square" lIns="0" rIns="0" tIns="0" bIns="0" anchor="t">
            <a:noAutofit/>
          </a:bodyPr>
          <a:lstStyle/>
          <a:p>
            <a:pPr algn="l">
              <a:lnSpc>
                <a:spcPct val="115000"/>
              </a:lnSpc>
              <a:spcAft>
                <a:spcPts val="0"/>
              </a:spcAft>
            </a:pPr>
            <a:r>
              <a:rPr sz="1150" b="0" i="0">
                <a:solidFill>
                  <a:srgbClr val="B6552A"/>
                </a:solidFill>
                <a:latin typeface="Courier New"/>
              </a:rPr>
              <a:t>−$365M</a:t>
            </a:r>
          </a:p>
        </p:txBody>
      </p:sp>
      <p:sp>
        <p:nvSpPr>
          <p:cNvPr id="20" name="Rectangle 19"/>
          <p:cNvSpPr/>
          <p:nvPr/>
        </p:nvSpPr>
        <p:spPr>
          <a:xfrm>
            <a:off x="6172200" y="2889503"/>
            <a:ext cx="3749039"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2907791"/>
            <a:ext cx="2103120" cy="310896"/>
          </a:xfrm>
          <a:prstGeom prst="rect">
            <a:avLst/>
          </a:prstGeom>
          <a:noFill/>
        </p:spPr>
        <p:txBody>
          <a:bodyPr wrap="square" lIns="0" rIns="0" tIns="0" bIns="0" anchor="t">
            <a:noAutofit/>
          </a:bodyPr>
          <a:lstStyle/>
          <a:p>
            <a:pPr algn="l">
              <a:lnSpc>
                <a:spcPct val="115000"/>
              </a:lnSpc>
              <a:spcAft>
                <a:spcPts val="0"/>
              </a:spcAft>
            </a:pPr>
            <a:r>
              <a:rPr sz="1150" b="1" i="0">
                <a:solidFill>
                  <a:srgbClr val="1D2130"/>
                </a:solidFill>
                <a:latin typeface="Courier New"/>
              </a:rPr>
              <a:t>JPM</a:t>
            </a:r>
          </a:p>
        </p:txBody>
      </p:sp>
      <p:sp>
        <p:nvSpPr>
          <p:cNvPr id="22" name="TextBox 21"/>
          <p:cNvSpPr txBox="1"/>
          <p:nvPr/>
        </p:nvSpPr>
        <p:spPr>
          <a:xfrm>
            <a:off x="8275320" y="2907791"/>
            <a:ext cx="1645920" cy="310896"/>
          </a:xfrm>
          <a:prstGeom prst="rect">
            <a:avLst/>
          </a:prstGeom>
          <a:noFill/>
        </p:spPr>
        <p:txBody>
          <a:bodyPr wrap="square" lIns="0" rIns="0" tIns="0" bIns="0" anchor="t">
            <a:noAutofit/>
          </a:bodyPr>
          <a:lstStyle/>
          <a:p>
            <a:pPr algn="l">
              <a:lnSpc>
                <a:spcPct val="115000"/>
              </a:lnSpc>
              <a:spcAft>
                <a:spcPts val="0"/>
              </a:spcAft>
            </a:pPr>
            <a:r>
              <a:rPr sz="1150" b="0" i="0">
                <a:solidFill>
                  <a:srgbClr val="3E6E64"/>
                </a:solidFill>
                <a:latin typeface="Courier New"/>
              </a:rPr>
              <a:t>+$37.7B</a:t>
            </a:r>
          </a:p>
        </p:txBody>
      </p:sp>
      <p:sp>
        <p:nvSpPr>
          <p:cNvPr id="23" name="Rectangle 22"/>
          <p:cNvSpPr/>
          <p:nvPr/>
        </p:nvSpPr>
        <p:spPr>
          <a:xfrm>
            <a:off x="6172200" y="3200399"/>
            <a:ext cx="3749039"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72200" y="3218687"/>
            <a:ext cx="2103120" cy="310896"/>
          </a:xfrm>
          <a:prstGeom prst="rect">
            <a:avLst/>
          </a:prstGeom>
          <a:noFill/>
        </p:spPr>
        <p:txBody>
          <a:bodyPr wrap="square" lIns="0" rIns="0" tIns="0" bIns="0" anchor="t">
            <a:noAutofit/>
          </a:bodyPr>
          <a:lstStyle/>
          <a:p>
            <a:pPr algn="l">
              <a:lnSpc>
                <a:spcPct val="115000"/>
              </a:lnSpc>
              <a:spcAft>
                <a:spcPts val="0"/>
              </a:spcAft>
            </a:pPr>
            <a:r>
              <a:rPr sz="1150" b="1" i="0">
                <a:solidFill>
                  <a:srgbClr val="1D2130"/>
                </a:solidFill>
                <a:latin typeface="Courier New"/>
              </a:rPr>
              <a:t>HSBC</a:t>
            </a:r>
          </a:p>
        </p:txBody>
      </p:sp>
      <p:sp>
        <p:nvSpPr>
          <p:cNvPr id="25" name="TextBox 24"/>
          <p:cNvSpPr txBox="1"/>
          <p:nvPr/>
        </p:nvSpPr>
        <p:spPr>
          <a:xfrm>
            <a:off x="8275320" y="3218687"/>
            <a:ext cx="1645920" cy="310896"/>
          </a:xfrm>
          <a:prstGeom prst="rect">
            <a:avLst/>
          </a:prstGeom>
          <a:noFill/>
        </p:spPr>
        <p:txBody>
          <a:bodyPr wrap="square" lIns="0" rIns="0" tIns="0" bIns="0" anchor="t">
            <a:noAutofit/>
          </a:bodyPr>
          <a:lstStyle/>
          <a:p>
            <a:pPr algn="l">
              <a:lnSpc>
                <a:spcPct val="115000"/>
              </a:lnSpc>
              <a:spcAft>
                <a:spcPts val="0"/>
              </a:spcAft>
            </a:pPr>
            <a:r>
              <a:rPr sz="1150" b="0" i="0">
                <a:solidFill>
                  <a:srgbClr val="3E6E64"/>
                </a:solidFill>
                <a:latin typeface="Courier New"/>
              </a:rPr>
              <a:t>+$15.6B</a:t>
            </a:r>
          </a:p>
        </p:txBody>
      </p:sp>
      <p:sp>
        <p:nvSpPr>
          <p:cNvPr id="26" name="Rectangle 25"/>
          <p:cNvSpPr/>
          <p:nvPr/>
        </p:nvSpPr>
        <p:spPr>
          <a:xfrm>
            <a:off x="6172200" y="3511295"/>
            <a:ext cx="3749039"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508095" y="3630168"/>
            <a:ext cx="5175503" cy="2788798"/>
          </a:xfrm>
          <a:prstGeom prst="rect">
            <a:avLst/>
          </a:prstGeom>
          <a:solidFill>
            <a:srgbClr val="FFFFFF"/>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two_wave_index.png"/>
          <p:cNvPicPr>
            <a:picLocks noChangeAspect="1"/>
          </p:cNvPicPr>
          <p:nvPr/>
        </p:nvPicPr>
        <p:blipFill>
          <a:blip r:embed="rId2"/>
          <a:stretch>
            <a:fillRect/>
          </a:stretch>
        </p:blipFill>
        <p:spPr>
          <a:xfrm>
            <a:off x="3535527" y="3657600"/>
            <a:ext cx="5120640" cy="2733934"/>
          </a:xfrm>
          <a:prstGeom prst="rect">
            <a:avLst/>
          </a:prstGeom>
        </p:spPr>
      </p:pic>
      <p:sp>
        <p:nvSpPr>
          <p:cNvPr id="29" name="TextBox 28"/>
          <p:cNvSpPr txBox="1"/>
          <p:nvPr/>
        </p:nvSpPr>
        <p:spPr>
          <a:xfrm>
            <a:off x="3535527" y="6464686"/>
            <a:ext cx="5120640" cy="320040"/>
          </a:xfrm>
          <a:prstGeom prst="rect">
            <a:avLst/>
          </a:prstGeom>
          <a:noFill/>
        </p:spPr>
        <p:txBody>
          <a:bodyPr wrap="square" lIns="0" rIns="0" tIns="0" bIns="0">
            <a:noAutofit/>
          </a:bodyPr>
          <a:lstStyle/>
          <a:p>
            <a:pPr algn="l">
              <a:lnSpc>
                <a:spcPct val="115000"/>
              </a:lnSpc>
              <a:spcAft>
                <a:spcPts val="0"/>
              </a:spcAft>
            </a:pPr>
            <a:r>
              <a:rPr sz="950" b="1" i="0">
                <a:solidFill>
                  <a:srgbClr val="1D2130"/>
                </a:solidFill>
                <a:latin typeface="Courier New"/>
              </a:rPr>
              <a:t>Exhibit B   </a:t>
            </a:r>
            <a:r>
              <a:rPr sz="950" b="0" i="0">
                <a:solidFill>
                  <a:srgbClr val="6E6C5C"/>
                </a:solidFill>
                <a:latin typeface="Courier New"/>
              </a:rPr>
              <a:t>Wave 1 sub-index with confirmed break dates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09</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FINDING · WAVE 2</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Thin by design, not by accident</a:t>
            </a:r>
          </a:p>
        </p:txBody>
      </p:sp>
      <p:sp>
        <p:nvSpPr>
          <p:cNvPr id="6" name="TextBox 5"/>
          <p:cNvSpPr txBox="1"/>
          <p:nvPr/>
        </p:nvSpPr>
        <p:spPr>
          <a:xfrm>
            <a:off x="685800" y="1481328"/>
            <a:ext cx="10241280" cy="777240"/>
          </a:xfrm>
          <a:prstGeom prst="rect">
            <a:avLst/>
          </a:prstGeom>
          <a:noFill/>
        </p:spPr>
        <p:txBody>
          <a:bodyPr wrap="square" lIns="0" rIns="0" tIns="0" bIns="0">
            <a:noAutofit/>
          </a:bodyPr>
          <a:lstStyle/>
          <a:p>
            <a:pPr algn="l">
              <a:lnSpc>
                <a:spcPct val="130000"/>
              </a:lnSpc>
              <a:spcAft>
                <a:spcPts val="0"/>
              </a:spcAft>
            </a:pPr>
            <a:r>
              <a:rPr sz="1250" b="0" i="0">
                <a:solidFill>
                  <a:srgbClr val="3A3F4E"/>
                </a:solidFill>
                <a:latin typeface="Calibri"/>
              </a:rPr>
              <a:t>5-company sample, </a:t>
            </a:r>
            <a:r>
              <a:rPr sz="1250" b="0" i="0">
                <a:solidFill>
                  <a:srgbClr val="1D2130"/>
                </a:solidFill>
                <a:latin typeface="Courier New"/>
              </a:rPr>
              <a:t>agentic</a:t>
            </a:r>
            <a:r>
              <a:rPr sz="1250" b="0" i="0">
                <a:solidFill>
                  <a:srgbClr val="3A3F4E"/>
                </a:solidFill>
                <a:latin typeface="Calibri"/>
              </a:rPr>
              <a:t> mentions in annual filings: </a:t>
            </a:r>
            <a:r>
              <a:rPr sz="1250" b="1" i="0">
                <a:solidFill>
                  <a:srgbClr val="1D2130"/>
                </a:solidFill>
                <a:latin typeface="Calibri"/>
              </a:rPr>
              <a:t>zero every year, 2019–2025</a:t>
            </a:r>
            <a:r>
              <a:rPr sz="1250" b="0" i="0">
                <a:solidFill>
                  <a:srgbClr val="3A3F4E"/>
                </a:solidFill>
                <a:latin typeface="Calibri"/>
              </a:rPr>
              <a:t> — then </a:t>
            </a:r>
            <a:r>
              <a:rPr sz="1250" b="1" i="0">
                <a:solidFill>
                  <a:srgbClr val="B6552A"/>
                </a:solidFill>
                <a:latin typeface="Calibri"/>
              </a:rPr>
              <a:t>4 in 2026</a:t>
            </a:r>
            <a:r>
              <a:rPr sz="1250" b="0" i="0">
                <a:solidFill>
                  <a:srgbClr val="3A3F4E"/>
                </a:solidFill>
                <a:latin typeface="Calibri"/>
              </a:rPr>
              <a:t> (JPM, HSBC, PayPal, Block). Checked market-wide, no company filter, across every 10-K filer in EDGAR:</a:t>
            </a:r>
          </a:p>
        </p:txBody>
      </p:sp>
      <p:sp>
        <p:nvSpPr>
          <p:cNvPr id="7" name="TextBox 6"/>
          <p:cNvSpPr txBox="1"/>
          <p:nvPr/>
        </p:nvSpPr>
        <p:spPr>
          <a:xfrm>
            <a:off x="685800"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2019</a:t>
            </a:r>
          </a:p>
        </p:txBody>
      </p:sp>
      <p:sp>
        <p:nvSpPr>
          <p:cNvPr id="8" name="TextBox 7"/>
          <p:cNvSpPr txBox="1"/>
          <p:nvPr/>
        </p:nvSpPr>
        <p:spPr>
          <a:xfrm>
            <a:off x="1892808"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2020</a:t>
            </a:r>
          </a:p>
        </p:txBody>
      </p:sp>
      <p:sp>
        <p:nvSpPr>
          <p:cNvPr id="9" name="TextBox 8"/>
          <p:cNvSpPr txBox="1"/>
          <p:nvPr/>
        </p:nvSpPr>
        <p:spPr>
          <a:xfrm>
            <a:off x="3099816"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2021</a:t>
            </a:r>
          </a:p>
        </p:txBody>
      </p:sp>
      <p:sp>
        <p:nvSpPr>
          <p:cNvPr id="10" name="TextBox 9"/>
          <p:cNvSpPr txBox="1"/>
          <p:nvPr/>
        </p:nvSpPr>
        <p:spPr>
          <a:xfrm>
            <a:off x="4306824"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2022</a:t>
            </a:r>
          </a:p>
        </p:txBody>
      </p:sp>
      <p:sp>
        <p:nvSpPr>
          <p:cNvPr id="11" name="TextBox 10"/>
          <p:cNvSpPr txBox="1"/>
          <p:nvPr/>
        </p:nvSpPr>
        <p:spPr>
          <a:xfrm>
            <a:off x="5513832"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2023</a:t>
            </a:r>
          </a:p>
        </p:txBody>
      </p:sp>
      <p:sp>
        <p:nvSpPr>
          <p:cNvPr id="12" name="TextBox 11"/>
          <p:cNvSpPr txBox="1"/>
          <p:nvPr/>
        </p:nvSpPr>
        <p:spPr>
          <a:xfrm>
            <a:off x="6720840"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2024</a:t>
            </a:r>
          </a:p>
        </p:txBody>
      </p:sp>
      <p:sp>
        <p:nvSpPr>
          <p:cNvPr id="13" name="TextBox 12"/>
          <p:cNvSpPr txBox="1"/>
          <p:nvPr/>
        </p:nvSpPr>
        <p:spPr>
          <a:xfrm>
            <a:off x="7927848"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2025</a:t>
            </a:r>
          </a:p>
        </p:txBody>
      </p:sp>
      <p:sp>
        <p:nvSpPr>
          <p:cNvPr id="14" name="TextBox 13"/>
          <p:cNvSpPr txBox="1"/>
          <p:nvPr/>
        </p:nvSpPr>
        <p:spPr>
          <a:xfrm>
            <a:off x="9134856" y="2331720"/>
            <a:ext cx="1207008" cy="274320"/>
          </a:xfrm>
          <a:prstGeom prst="rect">
            <a:avLst/>
          </a:prstGeom>
          <a:noFill/>
        </p:spPr>
        <p:txBody>
          <a:bodyPr wrap="square" lIns="0" rIns="0" tIns="0" bIns="0" anchor="t">
            <a:noAutofit/>
          </a:bodyPr>
          <a:lstStyle/>
          <a:p>
            <a:pPr algn="l">
              <a:lnSpc>
                <a:spcPct val="115000"/>
              </a:lnSpc>
              <a:spcAft>
                <a:spcPts val="0"/>
              </a:spcAft>
            </a:pPr>
            <a:r>
              <a:rPr sz="950" b="0" i="0">
                <a:solidFill>
                  <a:srgbClr val="6E6C5C"/>
                </a:solidFill>
                <a:latin typeface="Courier New"/>
              </a:rPr>
              <a:t>2026</a:t>
            </a:r>
          </a:p>
        </p:txBody>
      </p:sp>
      <p:sp>
        <p:nvSpPr>
          <p:cNvPr id="15" name="Rectangle 14"/>
          <p:cNvSpPr/>
          <p:nvPr/>
        </p:nvSpPr>
        <p:spPr>
          <a:xfrm>
            <a:off x="685800" y="2606039"/>
            <a:ext cx="9656064" cy="12801"/>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2660903"/>
            <a:ext cx="1207008" cy="365760"/>
          </a:xfrm>
          <a:prstGeom prst="rect">
            <a:avLst/>
          </a:prstGeom>
          <a:noFill/>
        </p:spPr>
        <p:txBody>
          <a:bodyPr wrap="square" lIns="0" rIns="0" tIns="0" bIns="0" anchor="t">
            <a:noAutofit/>
          </a:bodyPr>
          <a:lstStyle/>
          <a:p>
            <a:pPr algn="l">
              <a:lnSpc>
                <a:spcPct val="115000"/>
              </a:lnSpc>
              <a:spcAft>
                <a:spcPts val="0"/>
              </a:spcAft>
            </a:pPr>
            <a:r>
              <a:rPr sz="1250" b="1" i="0">
                <a:solidFill>
                  <a:srgbClr val="1D2130"/>
                </a:solidFill>
                <a:latin typeface="Courier New"/>
              </a:rPr>
              <a:t>5</a:t>
            </a:r>
          </a:p>
        </p:txBody>
      </p:sp>
      <p:sp>
        <p:nvSpPr>
          <p:cNvPr id="17" name="TextBox 16"/>
          <p:cNvSpPr txBox="1"/>
          <p:nvPr/>
        </p:nvSpPr>
        <p:spPr>
          <a:xfrm>
            <a:off x="1892808" y="2660903"/>
            <a:ext cx="1207008" cy="365760"/>
          </a:xfrm>
          <a:prstGeom prst="rect">
            <a:avLst/>
          </a:prstGeom>
          <a:noFill/>
        </p:spPr>
        <p:txBody>
          <a:bodyPr wrap="square" lIns="0" rIns="0" tIns="0" bIns="0" anchor="t">
            <a:noAutofit/>
          </a:bodyPr>
          <a:lstStyle/>
          <a:p>
            <a:pPr algn="l">
              <a:lnSpc>
                <a:spcPct val="115000"/>
              </a:lnSpc>
              <a:spcAft>
                <a:spcPts val="0"/>
              </a:spcAft>
            </a:pPr>
            <a:r>
              <a:rPr sz="1250" b="0" i="0">
                <a:solidFill>
                  <a:srgbClr val="3A3F4E"/>
                </a:solidFill>
                <a:latin typeface="Courier New"/>
              </a:rPr>
              <a:t>1</a:t>
            </a:r>
          </a:p>
        </p:txBody>
      </p:sp>
      <p:sp>
        <p:nvSpPr>
          <p:cNvPr id="18" name="TextBox 17"/>
          <p:cNvSpPr txBox="1"/>
          <p:nvPr/>
        </p:nvSpPr>
        <p:spPr>
          <a:xfrm>
            <a:off x="3099816" y="2660903"/>
            <a:ext cx="1207008" cy="365760"/>
          </a:xfrm>
          <a:prstGeom prst="rect">
            <a:avLst/>
          </a:prstGeom>
          <a:noFill/>
        </p:spPr>
        <p:txBody>
          <a:bodyPr wrap="square" lIns="0" rIns="0" tIns="0" bIns="0" anchor="t">
            <a:noAutofit/>
          </a:bodyPr>
          <a:lstStyle/>
          <a:p>
            <a:pPr algn="l">
              <a:lnSpc>
                <a:spcPct val="115000"/>
              </a:lnSpc>
              <a:spcAft>
                <a:spcPts val="0"/>
              </a:spcAft>
            </a:pPr>
            <a:r>
              <a:rPr sz="1250" b="0" i="0">
                <a:solidFill>
                  <a:srgbClr val="3A3F4E"/>
                </a:solidFill>
                <a:latin typeface="Courier New"/>
              </a:rPr>
              <a:t>0</a:t>
            </a:r>
          </a:p>
        </p:txBody>
      </p:sp>
      <p:sp>
        <p:nvSpPr>
          <p:cNvPr id="19" name="TextBox 18"/>
          <p:cNvSpPr txBox="1"/>
          <p:nvPr/>
        </p:nvSpPr>
        <p:spPr>
          <a:xfrm>
            <a:off x="4306824" y="2660903"/>
            <a:ext cx="1207008" cy="365760"/>
          </a:xfrm>
          <a:prstGeom prst="rect">
            <a:avLst/>
          </a:prstGeom>
          <a:noFill/>
        </p:spPr>
        <p:txBody>
          <a:bodyPr wrap="square" lIns="0" rIns="0" tIns="0" bIns="0" anchor="t">
            <a:noAutofit/>
          </a:bodyPr>
          <a:lstStyle/>
          <a:p>
            <a:pPr algn="l">
              <a:lnSpc>
                <a:spcPct val="115000"/>
              </a:lnSpc>
              <a:spcAft>
                <a:spcPts val="0"/>
              </a:spcAft>
            </a:pPr>
            <a:r>
              <a:rPr sz="1250" b="0" i="0">
                <a:solidFill>
                  <a:srgbClr val="3A3F4E"/>
                </a:solidFill>
                <a:latin typeface="Courier New"/>
              </a:rPr>
              <a:t>1</a:t>
            </a:r>
          </a:p>
        </p:txBody>
      </p:sp>
      <p:sp>
        <p:nvSpPr>
          <p:cNvPr id="20" name="TextBox 19"/>
          <p:cNvSpPr txBox="1"/>
          <p:nvPr/>
        </p:nvSpPr>
        <p:spPr>
          <a:xfrm>
            <a:off x="5513832" y="2660903"/>
            <a:ext cx="1207008" cy="365760"/>
          </a:xfrm>
          <a:prstGeom prst="rect">
            <a:avLst/>
          </a:prstGeom>
          <a:noFill/>
        </p:spPr>
        <p:txBody>
          <a:bodyPr wrap="square" lIns="0" rIns="0" tIns="0" bIns="0" anchor="t">
            <a:noAutofit/>
          </a:bodyPr>
          <a:lstStyle/>
          <a:p>
            <a:pPr algn="l">
              <a:lnSpc>
                <a:spcPct val="115000"/>
              </a:lnSpc>
              <a:spcAft>
                <a:spcPts val="0"/>
              </a:spcAft>
            </a:pPr>
            <a:r>
              <a:rPr sz="1250" b="0" i="0">
                <a:solidFill>
                  <a:srgbClr val="3A3F4E"/>
                </a:solidFill>
                <a:latin typeface="Courier New"/>
              </a:rPr>
              <a:t>3</a:t>
            </a:r>
          </a:p>
        </p:txBody>
      </p:sp>
      <p:sp>
        <p:nvSpPr>
          <p:cNvPr id="21" name="TextBox 20"/>
          <p:cNvSpPr txBox="1"/>
          <p:nvPr/>
        </p:nvSpPr>
        <p:spPr>
          <a:xfrm>
            <a:off x="6720840" y="2660903"/>
            <a:ext cx="1207008" cy="365760"/>
          </a:xfrm>
          <a:prstGeom prst="rect">
            <a:avLst/>
          </a:prstGeom>
          <a:noFill/>
        </p:spPr>
        <p:txBody>
          <a:bodyPr wrap="square" lIns="0" rIns="0" tIns="0" bIns="0" anchor="t">
            <a:noAutofit/>
          </a:bodyPr>
          <a:lstStyle/>
          <a:p>
            <a:pPr algn="l">
              <a:lnSpc>
                <a:spcPct val="115000"/>
              </a:lnSpc>
              <a:spcAft>
                <a:spcPts val="0"/>
              </a:spcAft>
            </a:pPr>
            <a:r>
              <a:rPr sz="1250" b="0" i="0">
                <a:solidFill>
                  <a:srgbClr val="3A3F4E"/>
                </a:solidFill>
                <a:latin typeface="Courier New"/>
              </a:rPr>
              <a:t>6</a:t>
            </a:r>
          </a:p>
        </p:txBody>
      </p:sp>
      <p:sp>
        <p:nvSpPr>
          <p:cNvPr id="22" name="TextBox 21"/>
          <p:cNvSpPr txBox="1"/>
          <p:nvPr/>
        </p:nvSpPr>
        <p:spPr>
          <a:xfrm>
            <a:off x="7927848" y="2660903"/>
            <a:ext cx="1207008" cy="365760"/>
          </a:xfrm>
          <a:prstGeom prst="rect">
            <a:avLst/>
          </a:prstGeom>
          <a:noFill/>
        </p:spPr>
        <p:txBody>
          <a:bodyPr wrap="square" lIns="0" rIns="0" tIns="0" bIns="0" anchor="t">
            <a:noAutofit/>
          </a:bodyPr>
          <a:lstStyle/>
          <a:p>
            <a:pPr algn="l">
              <a:lnSpc>
                <a:spcPct val="115000"/>
              </a:lnSpc>
              <a:spcAft>
                <a:spcPts val="0"/>
              </a:spcAft>
            </a:pPr>
            <a:r>
              <a:rPr sz="1250" b="1" i="0">
                <a:solidFill>
                  <a:srgbClr val="B6552A"/>
                </a:solidFill>
                <a:latin typeface="Courier New"/>
              </a:rPr>
              <a:t>111</a:t>
            </a:r>
          </a:p>
        </p:txBody>
      </p:sp>
      <p:sp>
        <p:nvSpPr>
          <p:cNvPr id="23" name="TextBox 22"/>
          <p:cNvSpPr txBox="1"/>
          <p:nvPr/>
        </p:nvSpPr>
        <p:spPr>
          <a:xfrm>
            <a:off x="9134856" y="2660903"/>
            <a:ext cx="1207008" cy="365760"/>
          </a:xfrm>
          <a:prstGeom prst="rect">
            <a:avLst/>
          </a:prstGeom>
          <a:noFill/>
        </p:spPr>
        <p:txBody>
          <a:bodyPr wrap="square" lIns="0" rIns="0" tIns="0" bIns="0" anchor="t">
            <a:noAutofit/>
          </a:bodyPr>
          <a:lstStyle/>
          <a:p>
            <a:pPr algn="l">
              <a:lnSpc>
                <a:spcPct val="115000"/>
              </a:lnSpc>
              <a:spcAft>
                <a:spcPts val="0"/>
              </a:spcAft>
            </a:pPr>
            <a:r>
              <a:rPr sz="1250" b="1" i="0">
                <a:solidFill>
                  <a:srgbClr val="B6552A"/>
                </a:solidFill>
                <a:latin typeface="Courier New"/>
              </a:rPr>
              <a:t>383</a:t>
            </a:r>
          </a:p>
        </p:txBody>
      </p:sp>
      <p:sp>
        <p:nvSpPr>
          <p:cNvPr id="24" name="Rectangle 23"/>
          <p:cNvSpPr/>
          <p:nvPr/>
        </p:nvSpPr>
        <p:spPr>
          <a:xfrm>
            <a:off x="685800" y="3008375"/>
            <a:ext cx="9656064" cy="10058"/>
          </a:xfrm>
          <a:prstGeom prst="rect">
            <a:avLst/>
          </a:prstGeom>
          <a:solidFill>
            <a:srgbClr val="C7C0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127248"/>
            <a:ext cx="10241280" cy="548640"/>
          </a:xfrm>
          <a:prstGeom prst="rect">
            <a:avLst/>
          </a:prstGeom>
          <a:noFill/>
        </p:spPr>
        <p:txBody>
          <a:bodyPr wrap="square" lIns="0" rIns="0" tIns="0" bIns="0">
            <a:noAutofit/>
          </a:bodyPr>
          <a:lstStyle/>
          <a:p>
            <a:pPr algn="l">
              <a:lnSpc>
                <a:spcPct val="125000"/>
              </a:lnSpc>
              <a:spcAft>
                <a:spcPts val="0"/>
              </a:spcAft>
            </a:pPr>
            <a:r>
              <a:rPr sz="1200" b="0" i="0">
                <a:solidFill>
                  <a:srgbClr val="3A3F4E"/>
                </a:solidFill>
                <a:latin typeface="Calibri"/>
              </a:rPr>
              <a:t>Same near-zero-then-jump shape, found independently at a completely different scale — roughly an 18× jump in 2025. Strongest evidence the thinness is early, not a 5-company artifact.</a:t>
            </a:r>
          </a:p>
        </p:txBody>
      </p:sp>
      <p:sp>
        <p:nvSpPr>
          <p:cNvPr id="26" name="Rectangle 25"/>
          <p:cNvSpPr/>
          <p:nvPr/>
        </p:nvSpPr>
        <p:spPr>
          <a:xfrm>
            <a:off x="4193895" y="3703320"/>
            <a:ext cx="3803903" cy="2679191"/>
          </a:xfrm>
          <a:prstGeom prst="rect">
            <a:avLst/>
          </a:prstGeom>
          <a:solidFill>
            <a:srgbClr val="FFFFFF"/>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edgar_marketwide.png"/>
          <p:cNvPicPr>
            <a:picLocks noChangeAspect="1"/>
          </p:cNvPicPr>
          <p:nvPr/>
        </p:nvPicPr>
        <p:blipFill>
          <a:blip r:embed="rId2"/>
          <a:stretch>
            <a:fillRect/>
          </a:stretch>
        </p:blipFill>
        <p:spPr>
          <a:xfrm>
            <a:off x="4221327" y="3730752"/>
            <a:ext cx="3749039" cy="2624327"/>
          </a:xfrm>
          <a:prstGeom prst="rect">
            <a:avLst/>
          </a:prstGeom>
        </p:spPr>
      </p:pic>
      <p:sp>
        <p:nvSpPr>
          <p:cNvPr id="28" name="TextBox 27"/>
          <p:cNvSpPr txBox="1"/>
          <p:nvPr/>
        </p:nvSpPr>
        <p:spPr>
          <a:xfrm>
            <a:off x="4221327" y="6428231"/>
            <a:ext cx="3749039" cy="320040"/>
          </a:xfrm>
          <a:prstGeom prst="rect">
            <a:avLst/>
          </a:prstGeom>
          <a:noFill/>
        </p:spPr>
        <p:txBody>
          <a:bodyPr wrap="square" lIns="0" rIns="0" tIns="0" bIns="0">
            <a:noAutofit/>
          </a:bodyPr>
          <a:lstStyle/>
          <a:p>
            <a:pPr algn="l">
              <a:lnSpc>
                <a:spcPct val="115000"/>
              </a:lnSpc>
              <a:spcAft>
                <a:spcPts val="0"/>
              </a:spcAft>
            </a:pPr>
            <a:r>
              <a:rPr sz="950" b="1" i="0">
                <a:solidFill>
                  <a:srgbClr val="1D2130"/>
                </a:solidFill>
                <a:latin typeface="Courier New"/>
              </a:rPr>
              <a:t>Exhibit C   </a:t>
            </a:r>
            <a:r>
              <a:rPr sz="950" b="0" i="0">
                <a:solidFill>
                  <a:srgbClr val="6E6C5C"/>
                </a:solidFill>
                <a:latin typeface="Courier New"/>
              </a:rPr>
              <a:t>5-company sample vs. market-wide, “agentic” query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10</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FINDING · WAVE 2</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Search attention turns on in 2024</a:t>
            </a:r>
          </a:p>
        </p:txBody>
      </p:sp>
      <p:sp>
        <p:nvSpPr>
          <p:cNvPr id="6" name="TextBox 5"/>
          <p:cNvSpPr txBox="1"/>
          <p:nvPr/>
        </p:nvSpPr>
        <p:spPr>
          <a:xfrm>
            <a:off x="685800" y="1508760"/>
            <a:ext cx="10241280" cy="914400"/>
          </a:xfrm>
          <a:prstGeom prst="rect">
            <a:avLst/>
          </a:prstGeom>
          <a:noFill/>
        </p:spPr>
        <p:txBody>
          <a:bodyPr wrap="square" lIns="0" rIns="0" tIns="0" bIns="0">
            <a:noAutofit/>
          </a:bodyPr>
          <a:lstStyle/>
          <a:p>
            <a:pPr algn="l">
              <a:lnSpc>
                <a:spcPct val="132000"/>
              </a:lnSpc>
              <a:spcAft>
                <a:spcPts val="0"/>
              </a:spcAft>
            </a:pPr>
            <a:r>
              <a:rPr sz="1300" b="0" i="0">
                <a:solidFill>
                  <a:srgbClr val="3A3F4E"/>
                </a:solidFill>
                <a:latin typeface="Calibri"/>
              </a:rPr>
              <a:t>Wave 2 terms — “AI agent finance,” “agentic AI banking,” “autonomous wealth management” — register </a:t>
            </a:r>
            <a:r>
              <a:rPr sz="1300" b="1" i="0">
                <a:solidFill>
                  <a:srgbClr val="1D2130"/>
                </a:solidFill>
                <a:latin typeface="Calibri"/>
              </a:rPr>
              <a:t>literally zero</a:t>
            </a:r>
            <a:r>
              <a:rPr sz="1300" b="0" i="0">
                <a:solidFill>
                  <a:srgbClr val="3A3F4E"/>
                </a:solidFill>
                <a:latin typeface="Calibri"/>
              </a:rPr>
              <a:t> search interest every year from 2018 through 2023. Interest turns on in 2024–2025 and reaches </a:t>
            </a:r>
            <a:r>
              <a:rPr sz="1300" b="1" i="0">
                <a:solidFill>
                  <a:srgbClr val="B6552A"/>
                </a:solidFill>
                <a:latin typeface="Calibri"/>
              </a:rPr>
              <a:t>~22</a:t>
            </a:r>
            <a:r>
              <a:rPr sz="1300" b="0" i="0">
                <a:solidFill>
                  <a:srgbClr val="3A3F4E"/>
                </a:solidFill>
                <a:latin typeface="Calibri"/>
              </a:rPr>
              <a:t> by 2026: real, but from a standing start, and still below Wave 1’s level.</a:t>
            </a:r>
          </a:p>
        </p:txBody>
      </p:sp>
      <p:sp>
        <p:nvSpPr>
          <p:cNvPr id="7" name="TextBox 6"/>
          <p:cNvSpPr txBox="1"/>
          <p:nvPr/>
        </p:nvSpPr>
        <p:spPr>
          <a:xfrm>
            <a:off x="685800" y="2606040"/>
            <a:ext cx="10241280" cy="640080"/>
          </a:xfrm>
          <a:prstGeom prst="rect">
            <a:avLst/>
          </a:prstGeom>
          <a:noFill/>
        </p:spPr>
        <p:txBody>
          <a:bodyPr wrap="square" lIns="0" rIns="0" tIns="0" bIns="0">
            <a:noAutofit/>
          </a:bodyPr>
          <a:lstStyle/>
          <a:p>
            <a:pPr algn="l">
              <a:lnSpc>
                <a:spcPct val="125000"/>
              </a:lnSpc>
              <a:spcAft>
                <a:spcPts val="0"/>
              </a:spcAft>
            </a:pPr>
            <a:r>
              <a:rPr sz="1200" b="0" i="1">
                <a:solidFill>
                  <a:srgbClr val="6E6C5C"/>
                </a:solidFill>
                <a:latin typeface="Calibri"/>
              </a:rPr>
              <a:t>No market proxy exists for Wave 2 — there is no “AI-native fintech” stock basket in this project, because the relevant companies mostly aren’t public yet.</a:t>
            </a:r>
          </a:p>
        </p:txBody>
      </p:sp>
      <p:sp>
        <p:nvSpPr>
          <p:cNvPr id="8" name="Rectangle 7"/>
          <p:cNvSpPr/>
          <p:nvPr/>
        </p:nvSpPr>
        <p:spPr>
          <a:xfrm>
            <a:off x="3188055" y="3401568"/>
            <a:ext cx="5815583" cy="3197074"/>
          </a:xfrm>
          <a:prstGeom prst="rect">
            <a:avLst/>
          </a:prstGeom>
          <a:solidFill>
            <a:srgbClr val="FFFFFF"/>
          </a:solidFill>
          <a:ln w="12700">
            <a:solidFill>
              <a:srgbClr val="C7C0A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trends_comparison.png"/>
          <p:cNvPicPr>
            <a:picLocks noChangeAspect="1"/>
          </p:cNvPicPr>
          <p:nvPr/>
        </p:nvPicPr>
        <p:blipFill>
          <a:blip r:embed="rId2"/>
          <a:stretch>
            <a:fillRect/>
          </a:stretch>
        </p:blipFill>
        <p:spPr>
          <a:xfrm>
            <a:off x="3215487" y="3429000"/>
            <a:ext cx="5760720" cy="3142210"/>
          </a:xfrm>
          <a:prstGeom prst="rect">
            <a:avLst/>
          </a:prstGeom>
        </p:spPr>
      </p:pic>
      <p:sp>
        <p:nvSpPr>
          <p:cNvPr id="10" name="TextBox 9"/>
          <p:cNvSpPr txBox="1"/>
          <p:nvPr/>
        </p:nvSpPr>
        <p:spPr>
          <a:xfrm>
            <a:off x="3215487" y="6644362"/>
            <a:ext cx="5760720" cy="320040"/>
          </a:xfrm>
          <a:prstGeom prst="rect">
            <a:avLst/>
          </a:prstGeom>
          <a:noFill/>
        </p:spPr>
        <p:txBody>
          <a:bodyPr wrap="square" lIns="0" rIns="0" tIns="0" bIns="0">
            <a:noAutofit/>
          </a:bodyPr>
          <a:lstStyle/>
          <a:p>
            <a:pPr algn="l">
              <a:lnSpc>
                <a:spcPct val="115000"/>
              </a:lnSpc>
              <a:spcAft>
                <a:spcPts val="0"/>
              </a:spcAft>
            </a:pPr>
            <a:r>
              <a:rPr sz="950" b="1" i="0">
                <a:solidFill>
                  <a:srgbClr val="1D2130"/>
                </a:solidFill>
                <a:latin typeface="Courier New"/>
              </a:rPr>
              <a:t>Exhibit D   </a:t>
            </a:r>
            <a:r>
              <a:rPr sz="950" b="0" i="0">
                <a:solidFill>
                  <a:srgbClr val="6E6C5C"/>
                </a:solidFill>
                <a:latin typeface="Courier New"/>
              </a:rPr>
              <a:t>Search interest, Wave 1 vs. Wave 2 keyword groups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11</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VERDICT</a:t>
            </a:r>
          </a:p>
        </p:txBody>
      </p:sp>
      <p:sp>
        <p:nvSpPr>
          <p:cNvPr id="5" name="TextBox 4"/>
          <p:cNvSpPr txBox="1"/>
          <p:nvPr/>
        </p:nvSpPr>
        <p:spPr>
          <a:xfrm>
            <a:off x="685800" y="749808"/>
            <a:ext cx="10972800" cy="822960"/>
          </a:xfrm>
          <a:prstGeom prst="rect">
            <a:avLst/>
          </a:prstGeom>
          <a:noFill/>
        </p:spPr>
        <p:txBody>
          <a:bodyPr wrap="square" lIns="0" rIns="0" tIns="0" bIns="0">
            <a:noAutofit/>
          </a:bodyPr>
          <a:lstStyle/>
          <a:p>
            <a:pPr algn="l">
              <a:lnSpc>
                <a:spcPct val="102000"/>
              </a:lnSpc>
              <a:spcAft>
                <a:spcPts val="0"/>
              </a:spcAft>
            </a:pPr>
            <a:r>
              <a:rPr sz="2600" b="1" i="0">
                <a:solidFill>
                  <a:srgbClr val="1D2130"/>
                </a:solidFill>
                <a:latin typeface="Georgia"/>
              </a:rPr>
              <a:t>Fintech didn’t die. AI hasn’t taken over — yet.</a:t>
            </a:r>
          </a:p>
        </p:txBody>
      </p:sp>
      <p:sp>
        <p:nvSpPr>
          <p:cNvPr id="6" name="TextBox 5"/>
          <p:cNvSpPr txBox="1"/>
          <p:nvPr/>
        </p:nvSpPr>
        <p:spPr>
          <a:xfrm>
            <a:off x="685800" y="1691640"/>
            <a:ext cx="9601200" cy="640080"/>
          </a:xfrm>
          <a:prstGeom prst="rect">
            <a:avLst/>
          </a:prstGeom>
          <a:noFill/>
        </p:spPr>
        <p:txBody>
          <a:bodyPr wrap="square" lIns="0" rIns="0" tIns="0" bIns="0">
            <a:noAutofit/>
          </a:bodyPr>
          <a:lstStyle/>
          <a:p>
            <a:pPr algn="l">
              <a:lnSpc>
                <a:spcPct val="125000"/>
              </a:lnSpc>
              <a:spcAft>
                <a:spcPts val="0"/>
              </a:spcAft>
            </a:pPr>
            <a:r>
              <a:rPr sz="1900" b="0" i="1">
                <a:solidFill>
                  <a:srgbClr val="1D2130"/>
                </a:solidFill>
                <a:latin typeface="Georgia"/>
              </a:rPr>
              <a:t>“Incumbent banks are better positioned to absorb AI than to be displaced by it.”</a:t>
            </a:r>
          </a:p>
        </p:txBody>
      </p:sp>
      <p:sp>
        <p:nvSpPr>
          <p:cNvPr id="7" name="Rectangle 6"/>
          <p:cNvSpPr/>
          <p:nvPr/>
        </p:nvSpPr>
        <p:spPr>
          <a:xfrm>
            <a:off x="685800" y="2514600"/>
            <a:ext cx="41148" cy="1161288"/>
          </a:xfrm>
          <a:prstGeom prst="rect">
            <a:avLst/>
          </a:prstGeom>
          <a:solidFill>
            <a:srgbClr val="3E6E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14600"/>
            <a:ext cx="9784080" cy="320040"/>
          </a:xfrm>
          <a:prstGeom prst="rect">
            <a:avLst/>
          </a:prstGeom>
          <a:noFill/>
        </p:spPr>
        <p:txBody>
          <a:bodyPr wrap="square" lIns="0" rIns="0" tIns="0" bIns="0">
            <a:noAutofit/>
          </a:bodyPr>
          <a:lstStyle/>
          <a:p>
            <a:pPr algn="l">
              <a:lnSpc>
                <a:spcPct val="115000"/>
              </a:lnSpc>
              <a:spcAft>
                <a:spcPts val="0"/>
              </a:spcAft>
            </a:pPr>
            <a:r>
              <a:rPr sz="1400" b="1" i="0">
                <a:solidFill>
                  <a:srgbClr val="1D2130"/>
                </a:solidFill>
                <a:latin typeface="Calibri"/>
              </a:rPr>
              <a:t>1. Wave 1 has largely lost its edge</a:t>
            </a:r>
          </a:p>
        </p:txBody>
      </p:sp>
      <p:sp>
        <p:nvSpPr>
          <p:cNvPr id="9" name="TextBox 8"/>
          <p:cNvSpPr txBox="1"/>
          <p:nvPr/>
        </p:nvSpPr>
        <p:spPr>
          <a:xfrm>
            <a:off x="914400" y="2880360"/>
            <a:ext cx="9784080" cy="841247"/>
          </a:xfrm>
          <a:prstGeom prst="rect">
            <a:avLst/>
          </a:prstGeom>
          <a:noFill/>
        </p:spPr>
        <p:txBody>
          <a:bodyPr wrap="square" lIns="0" rIns="0" tIns="0" bIns="0">
            <a:noAutofit/>
          </a:bodyPr>
          <a:lstStyle/>
          <a:p>
            <a:pPr algn="l">
              <a:lnSpc>
                <a:spcPct val="128000"/>
              </a:lnSpc>
              <a:spcAft>
                <a:spcPts val="0"/>
              </a:spcAft>
            </a:pPr>
            <a:r>
              <a:rPr sz="1150" b="0" i="0">
                <a:solidFill>
                  <a:srgbClr val="3A3F4E"/>
                </a:solidFill>
                <a:latin typeface="Calibri"/>
              </a:rPr>
              <a:t>By price and by 2022 profitability, the app-based challengers have been substantially reabsorbed by the banks they once threatened. PayPal sits below its 2018 start; JPM is now the best performer.</a:t>
            </a:r>
          </a:p>
        </p:txBody>
      </p:sp>
      <p:sp>
        <p:nvSpPr>
          <p:cNvPr id="10" name="Rectangle 9"/>
          <p:cNvSpPr/>
          <p:nvPr/>
        </p:nvSpPr>
        <p:spPr>
          <a:xfrm>
            <a:off x="685800" y="3813048"/>
            <a:ext cx="41148" cy="1161288"/>
          </a:xfrm>
          <a:prstGeom prst="rect">
            <a:avLst/>
          </a:prstGeom>
          <a:solidFill>
            <a:srgbClr val="A79E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813048"/>
            <a:ext cx="9784080" cy="320040"/>
          </a:xfrm>
          <a:prstGeom prst="rect">
            <a:avLst/>
          </a:prstGeom>
          <a:noFill/>
        </p:spPr>
        <p:txBody>
          <a:bodyPr wrap="square" lIns="0" rIns="0" tIns="0" bIns="0">
            <a:noAutofit/>
          </a:bodyPr>
          <a:lstStyle/>
          <a:p>
            <a:pPr algn="l">
              <a:lnSpc>
                <a:spcPct val="115000"/>
              </a:lnSpc>
              <a:spcAft>
                <a:spcPts val="0"/>
              </a:spcAft>
            </a:pPr>
            <a:r>
              <a:rPr sz="1400" b="1" i="0">
                <a:solidFill>
                  <a:srgbClr val="1D2130"/>
                </a:solidFill>
                <a:latin typeface="Calibri"/>
              </a:rPr>
              <a:t>2. Wave 2 is not yet measurable — and that’s itself a finding</a:t>
            </a:r>
          </a:p>
        </p:txBody>
      </p:sp>
      <p:sp>
        <p:nvSpPr>
          <p:cNvPr id="12" name="TextBox 11"/>
          <p:cNvSpPr txBox="1"/>
          <p:nvPr/>
        </p:nvSpPr>
        <p:spPr>
          <a:xfrm>
            <a:off x="914400" y="4178808"/>
            <a:ext cx="9784080" cy="841247"/>
          </a:xfrm>
          <a:prstGeom prst="rect">
            <a:avLst/>
          </a:prstGeom>
          <a:noFill/>
        </p:spPr>
        <p:txBody>
          <a:bodyPr wrap="square" lIns="0" rIns="0" tIns="0" bIns="0">
            <a:noAutofit/>
          </a:bodyPr>
          <a:lstStyle/>
          <a:p>
            <a:pPr algn="l">
              <a:lnSpc>
                <a:spcPct val="128000"/>
              </a:lnSpc>
              <a:spcAft>
                <a:spcPts val="0"/>
              </a:spcAft>
            </a:pPr>
            <a:r>
              <a:rPr sz="1150" b="0" i="0">
                <a:solidFill>
                  <a:srgbClr val="3A3F4E"/>
                </a:solidFill>
                <a:latin typeface="Calibri"/>
              </a:rPr>
              <a:t>Most AI-native firms are private or too young for market data. The thin evidence that exists (EDGAR agentic language, search interest) is consistent with a real, early inflection starting around 2024.</a:t>
            </a:r>
          </a:p>
        </p:txBody>
      </p:sp>
      <p:sp>
        <p:nvSpPr>
          <p:cNvPr id="13" name="Rectangle 12"/>
          <p:cNvSpPr/>
          <p:nvPr/>
        </p:nvSpPr>
        <p:spPr>
          <a:xfrm>
            <a:off x="685800" y="5111496"/>
            <a:ext cx="41148" cy="1161288"/>
          </a:xfrm>
          <a:prstGeom prst="rect">
            <a:avLst/>
          </a:prstGeom>
          <a:solidFill>
            <a:srgbClr val="B6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111496"/>
            <a:ext cx="9784080" cy="320040"/>
          </a:xfrm>
          <a:prstGeom prst="rect">
            <a:avLst/>
          </a:prstGeom>
          <a:noFill/>
        </p:spPr>
        <p:txBody>
          <a:bodyPr wrap="square" lIns="0" rIns="0" tIns="0" bIns="0">
            <a:noAutofit/>
          </a:bodyPr>
          <a:lstStyle/>
          <a:p>
            <a:pPr algn="l">
              <a:lnSpc>
                <a:spcPct val="115000"/>
              </a:lnSpc>
              <a:spcAft>
                <a:spcPts val="0"/>
              </a:spcAft>
            </a:pPr>
            <a:r>
              <a:rPr sz="1400" b="1" i="0">
                <a:solidFill>
                  <a:srgbClr val="1D2130"/>
                </a:solidFill>
                <a:latin typeface="Calibri"/>
              </a:rPr>
              <a:t>3. Likely winner: banks capture this wave too — a prediction, not a finding</a:t>
            </a:r>
          </a:p>
        </p:txBody>
      </p:sp>
      <p:sp>
        <p:nvSpPr>
          <p:cNvPr id="15" name="TextBox 14"/>
          <p:cNvSpPr txBox="1"/>
          <p:nvPr/>
        </p:nvSpPr>
        <p:spPr>
          <a:xfrm>
            <a:off x="914400" y="5477256"/>
            <a:ext cx="9784080" cy="841247"/>
          </a:xfrm>
          <a:prstGeom prst="rect">
            <a:avLst/>
          </a:prstGeom>
          <a:noFill/>
        </p:spPr>
        <p:txBody>
          <a:bodyPr wrap="square" lIns="0" rIns="0" tIns="0" bIns="0">
            <a:noAutofit/>
          </a:bodyPr>
          <a:lstStyle/>
          <a:p>
            <a:pPr algn="l">
              <a:lnSpc>
                <a:spcPct val="128000"/>
              </a:lnSpc>
              <a:spcAft>
                <a:spcPts val="0"/>
              </a:spcAft>
            </a:pPr>
            <a:r>
              <a:rPr sz="1150" b="0" i="0">
                <a:solidFill>
                  <a:srgbClr val="3A3F4E"/>
                </a:solidFill>
                <a:latin typeface="Calibri"/>
              </a:rPr>
              <a:t>All four companies whose 2026 filings mention agentic language are already-established incumbents. Consistent with “incumbents move first,” not proof of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12</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READ BEFORE OVER-CITING THIS</a:t>
            </a:r>
          </a:p>
        </p:txBody>
      </p:sp>
      <p:sp>
        <p:nvSpPr>
          <p:cNvPr id="5" name="TextBox 4"/>
          <p:cNvSpPr txBox="1"/>
          <p:nvPr/>
        </p:nvSpPr>
        <p:spPr>
          <a:xfrm>
            <a:off x="685800" y="749808"/>
            <a:ext cx="10972800" cy="914400"/>
          </a:xfrm>
          <a:prstGeom prst="rect">
            <a:avLst/>
          </a:prstGeom>
          <a:noFill/>
        </p:spPr>
        <p:txBody>
          <a:bodyPr wrap="square" lIns="0" rIns="0" tIns="0" bIns="0">
            <a:noAutofit/>
          </a:bodyPr>
          <a:lstStyle/>
          <a:p>
            <a:pPr algn="l">
              <a:lnSpc>
                <a:spcPct val="102000"/>
              </a:lnSpc>
              <a:spcAft>
                <a:spcPts val="0"/>
              </a:spcAft>
            </a:pPr>
            <a:r>
              <a:rPr sz="2700" b="1" i="0">
                <a:solidFill>
                  <a:srgbClr val="1D2130"/>
                </a:solidFill>
                <a:latin typeface="Georgia"/>
              </a:rPr>
              <a:t>Limitations</a:t>
            </a:r>
          </a:p>
        </p:txBody>
      </p:sp>
      <p:sp>
        <p:nvSpPr>
          <p:cNvPr id="6" name="TextBox 5"/>
          <p:cNvSpPr txBox="1"/>
          <p:nvPr/>
        </p:nvSpPr>
        <p:spPr>
          <a:xfrm>
            <a:off x="685800" y="1691640"/>
            <a:ext cx="365760" cy="365760"/>
          </a:xfrm>
          <a:prstGeom prst="rect">
            <a:avLst/>
          </a:prstGeom>
          <a:noFill/>
        </p:spPr>
        <p:txBody>
          <a:bodyPr wrap="square" lIns="0" rIns="0" tIns="0" bIns="0">
            <a:noAutofit/>
          </a:bodyPr>
          <a:lstStyle/>
          <a:p>
            <a:pPr algn="l">
              <a:lnSpc>
                <a:spcPct val="115000"/>
              </a:lnSpc>
              <a:spcAft>
                <a:spcPts val="0"/>
              </a:spcAft>
            </a:pPr>
            <a:r>
              <a:rPr sz="1300" b="1" i="0">
                <a:solidFill>
                  <a:srgbClr val="B6552A"/>
                </a:solidFill>
                <a:latin typeface="Courier New"/>
              </a:rPr>
              <a:t>—</a:t>
            </a:r>
          </a:p>
        </p:txBody>
      </p:sp>
      <p:sp>
        <p:nvSpPr>
          <p:cNvPr id="7" name="TextBox 6"/>
          <p:cNvSpPr txBox="1"/>
          <p:nvPr/>
        </p:nvSpPr>
        <p:spPr>
          <a:xfrm>
            <a:off x="1097280" y="1691640"/>
            <a:ext cx="9875520" cy="1170432"/>
          </a:xfrm>
          <a:prstGeom prst="rect">
            <a:avLst/>
          </a:prstGeom>
          <a:noFill/>
        </p:spPr>
        <p:txBody>
          <a:bodyPr wrap="square" lIns="0" rIns="0" tIns="0" bIns="0">
            <a:noAutofit/>
          </a:bodyPr>
          <a:lstStyle/>
          <a:p>
            <a:pPr algn="l">
              <a:lnSpc>
                <a:spcPct val="132000"/>
              </a:lnSpc>
              <a:spcAft>
                <a:spcPts val="0"/>
              </a:spcAft>
            </a:pPr>
            <a:r>
              <a:rPr sz="1300" b="1" i="0">
                <a:solidFill>
                  <a:srgbClr val="1D2130"/>
                </a:solidFill>
                <a:latin typeface="Calibri"/>
              </a:rPr>
              <a:t>Proxies, not ground truth.  </a:t>
            </a:r>
            <a:r>
              <a:rPr sz="1300" b="0" i="0">
                <a:solidFill>
                  <a:srgbClr val="3A3F4E"/>
                </a:solidFill>
                <a:latin typeface="Calibri"/>
              </a:rPr>
              <a:t>Search interest measures attention, not adoption. Filing language measures what companies say, not what they ship. Only four fiscal years of net income are available per company.</a:t>
            </a:r>
          </a:p>
        </p:txBody>
      </p:sp>
      <p:sp>
        <p:nvSpPr>
          <p:cNvPr id="8" name="TextBox 7"/>
          <p:cNvSpPr txBox="1"/>
          <p:nvPr/>
        </p:nvSpPr>
        <p:spPr>
          <a:xfrm>
            <a:off x="685800" y="2862072"/>
            <a:ext cx="365760" cy="365760"/>
          </a:xfrm>
          <a:prstGeom prst="rect">
            <a:avLst/>
          </a:prstGeom>
          <a:noFill/>
        </p:spPr>
        <p:txBody>
          <a:bodyPr wrap="square" lIns="0" rIns="0" tIns="0" bIns="0">
            <a:noAutofit/>
          </a:bodyPr>
          <a:lstStyle/>
          <a:p>
            <a:pPr algn="l">
              <a:lnSpc>
                <a:spcPct val="115000"/>
              </a:lnSpc>
              <a:spcAft>
                <a:spcPts val="0"/>
              </a:spcAft>
            </a:pPr>
            <a:r>
              <a:rPr sz="1300" b="1" i="0">
                <a:solidFill>
                  <a:srgbClr val="B6552A"/>
                </a:solidFill>
                <a:latin typeface="Courier New"/>
              </a:rPr>
              <a:t>—</a:t>
            </a:r>
          </a:p>
        </p:txBody>
      </p:sp>
      <p:sp>
        <p:nvSpPr>
          <p:cNvPr id="9" name="TextBox 8"/>
          <p:cNvSpPr txBox="1"/>
          <p:nvPr/>
        </p:nvSpPr>
        <p:spPr>
          <a:xfrm>
            <a:off x="1097280" y="2862072"/>
            <a:ext cx="9875520" cy="1170432"/>
          </a:xfrm>
          <a:prstGeom prst="rect">
            <a:avLst/>
          </a:prstGeom>
          <a:noFill/>
        </p:spPr>
        <p:txBody>
          <a:bodyPr wrap="square" lIns="0" rIns="0" tIns="0" bIns="0">
            <a:noAutofit/>
          </a:bodyPr>
          <a:lstStyle/>
          <a:p>
            <a:pPr algn="l">
              <a:lnSpc>
                <a:spcPct val="132000"/>
              </a:lnSpc>
              <a:spcAft>
                <a:spcPts val="0"/>
              </a:spcAft>
            </a:pPr>
            <a:r>
              <a:rPr sz="1300" b="1" i="0">
                <a:solidFill>
                  <a:srgbClr val="1D2130"/>
                </a:solidFill>
                <a:latin typeface="Calibri"/>
              </a:rPr>
              <a:t>Short Wave 2 window.  </a:t>
            </a:r>
            <a:r>
              <a:rPr sz="1300" b="0" i="0">
                <a:solidFill>
                  <a:srgbClr val="3A3F4E"/>
                </a:solidFill>
                <a:latin typeface="Calibri"/>
              </a:rPr>
              <a:t>The acceleration signal covers roughly 2024–2026 — about two years. A single flat year would meaningfully change the picture.</a:t>
            </a:r>
          </a:p>
        </p:txBody>
      </p:sp>
      <p:sp>
        <p:nvSpPr>
          <p:cNvPr id="10" name="TextBox 9"/>
          <p:cNvSpPr txBox="1"/>
          <p:nvPr/>
        </p:nvSpPr>
        <p:spPr>
          <a:xfrm>
            <a:off x="685800" y="4032504"/>
            <a:ext cx="365760" cy="365760"/>
          </a:xfrm>
          <a:prstGeom prst="rect">
            <a:avLst/>
          </a:prstGeom>
          <a:noFill/>
        </p:spPr>
        <p:txBody>
          <a:bodyPr wrap="square" lIns="0" rIns="0" tIns="0" bIns="0">
            <a:noAutofit/>
          </a:bodyPr>
          <a:lstStyle/>
          <a:p>
            <a:pPr algn="l">
              <a:lnSpc>
                <a:spcPct val="115000"/>
              </a:lnSpc>
              <a:spcAft>
                <a:spcPts val="0"/>
              </a:spcAft>
            </a:pPr>
            <a:r>
              <a:rPr sz="1300" b="1" i="0">
                <a:solidFill>
                  <a:srgbClr val="B6552A"/>
                </a:solidFill>
                <a:latin typeface="Courier New"/>
              </a:rPr>
              <a:t>—</a:t>
            </a:r>
          </a:p>
        </p:txBody>
      </p:sp>
      <p:sp>
        <p:nvSpPr>
          <p:cNvPr id="11" name="TextBox 10"/>
          <p:cNvSpPr txBox="1"/>
          <p:nvPr/>
        </p:nvSpPr>
        <p:spPr>
          <a:xfrm>
            <a:off x="1097280" y="4032504"/>
            <a:ext cx="9875520" cy="1170432"/>
          </a:xfrm>
          <a:prstGeom prst="rect">
            <a:avLst/>
          </a:prstGeom>
          <a:noFill/>
        </p:spPr>
        <p:txBody>
          <a:bodyPr wrap="square" lIns="0" rIns="0" tIns="0" bIns="0">
            <a:noAutofit/>
          </a:bodyPr>
          <a:lstStyle/>
          <a:p>
            <a:pPr algn="l">
              <a:lnSpc>
                <a:spcPct val="132000"/>
              </a:lnSpc>
              <a:spcAft>
                <a:spcPts val="0"/>
              </a:spcAft>
            </a:pPr>
            <a:r>
              <a:rPr sz="1300" b="1" i="0">
                <a:solidFill>
                  <a:srgbClr val="1D2130"/>
                </a:solidFill>
                <a:latin typeface="Calibri"/>
              </a:rPr>
              <a:t>Small, hand-picked, public-only sample.  </a:t>
            </a:r>
            <a:r>
              <a:rPr sz="1300" b="0" i="0">
                <a:solidFill>
                  <a:srgbClr val="3A3F4E"/>
                </a:solidFill>
                <a:latin typeface="Calibri"/>
              </a:rPr>
              <a:t>5 companies for EDGAR, 7 tickers for prices. The market-wide EDGAR check mitigates but doesn’t remove this — there’s no way to see a winning private challenger.</a:t>
            </a:r>
          </a:p>
        </p:txBody>
      </p:sp>
      <p:sp>
        <p:nvSpPr>
          <p:cNvPr id="12" name="TextBox 11"/>
          <p:cNvSpPr txBox="1"/>
          <p:nvPr/>
        </p:nvSpPr>
        <p:spPr>
          <a:xfrm>
            <a:off x="685800" y="5202936"/>
            <a:ext cx="365760" cy="365760"/>
          </a:xfrm>
          <a:prstGeom prst="rect">
            <a:avLst/>
          </a:prstGeom>
          <a:noFill/>
        </p:spPr>
        <p:txBody>
          <a:bodyPr wrap="square" lIns="0" rIns="0" tIns="0" bIns="0">
            <a:noAutofit/>
          </a:bodyPr>
          <a:lstStyle/>
          <a:p>
            <a:pPr algn="l">
              <a:lnSpc>
                <a:spcPct val="115000"/>
              </a:lnSpc>
              <a:spcAft>
                <a:spcPts val="0"/>
              </a:spcAft>
            </a:pPr>
            <a:r>
              <a:rPr sz="1300" b="1" i="0">
                <a:solidFill>
                  <a:srgbClr val="B6552A"/>
                </a:solidFill>
                <a:latin typeface="Courier New"/>
              </a:rPr>
              <a:t>—</a:t>
            </a:r>
          </a:p>
        </p:txBody>
      </p:sp>
      <p:sp>
        <p:nvSpPr>
          <p:cNvPr id="13" name="TextBox 12"/>
          <p:cNvSpPr txBox="1"/>
          <p:nvPr/>
        </p:nvSpPr>
        <p:spPr>
          <a:xfrm>
            <a:off x="1097280" y="5202936"/>
            <a:ext cx="9875520" cy="1170432"/>
          </a:xfrm>
          <a:prstGeom prst="rect">
            <a:avLst/>
          </a:prstGeom>
          <a:noFill/>
        </p:spPr>
        <p:txBody>
          <a:bodyPr wrap="square" lIns="0" rIns="0" tIns="0" bIns="0">
            <a:noAutofit/>
          </a:bodyPr>
          <a:lstStyle/>
          <a:p>
            <a:pPr algn="l">
              <a:lnSpc>
                <a:spcPct val="132000"/>
              </a:lnSpc>
              <a:spcAft>
                <a:spcPts val="0"/>
              </a:spcAft>
            </a:pPr>
            <a:r>
              <a:rPr sz="1300" b="1" i="0">
                <a:solidFill>
                  <a:srgbClr val="1D2130"/>
                </a:solidFill>
                <a:latin typeface="Calibri"/>
              </a:rPr>
              <a:t>Part 3 is a prediction, explicitly labeled as such.  </a:t>
            </a:r>
            <a:r>
              <a:rPr sz="1300" b="0" i="0">
                <a:solidFill>
                  <a:srgbClr val="3A3F4E"/>
                </a:solidFill>
                <a:latin typeface="Calibri"/>
              </a:rPr>
              <a:t>“Banks absorb the AI wave” should not be cited with the same confidence as what already happened in Wave 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AE7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56032"/>
            <a:ext cx="914400" cy="274320"/>
          </a:xfrm>
          <a:prstGeom prst="rect">
            <a:avLst/>
          </a:prstGeom>
          <a:noFill/>
        </p:spPr>
        <p:txBody>
          <a:bodyPr wrap="square" lIns="0" rIns="0" tIns="0" bIns="0">
            <a:noAutofit/>
          </a:bodyPr>
          <a:lstStyle/>
          <a:p>
            <a:pPr algn="l">
              <a:lnSpc>
                <a:spcPct val="115000"/>
              </a:lnSpc>
              <a:spcAft>
                <a:spcPts val="0"/>
              </a:spcAft>
            </a:pPr>
            <a:r>
              <a:rPr sz="1000" b="0" i="0">
                <a:solidFill>
                  <a:srgbClr val="6E6C5C"/>
                </a:solidFill>
                <a:latin typeface="Courier New"/>
              </a:rPr>
              <a:t>13</a:t>
            </a:r>
          </a:p>
        </p:txBody>
      </p:sp>
      <p:sp>
        <p:nvSpPr>
          <p:cNvPr id="4" name="TextBox 3"/>
          <p:cNvSpPr txBox="1"/>
          <p:nvPr/>
        </p:nvSpPr>
        <p:spPr>
          <a:xfrm>
            <a:off x="685800" y="457200"/>
            <a:ext cx="7315200" cy="292608"/>
          </a:xfrm>
          <a:prstGeom prst="rect">
            <a:avLst/>
          </a:prstGeom>
          <a:noFill/>
        </p:spPr>
        <p:txBody>
          <a:bodyPr wrap="square" lIns="0" rIns="0" tIns="0" bIns="0">
            <a:noAutofit/>
          </a:bodyPr>
          <a:lstStyle/>
          <a:p>
            <a:pPr algn="l">
              <a:lnSpc>
                <a:spcPct val="115000"/>
              </a:lnSpc>
              <a:spcAft>
                <a:spcPts val="0"/>
              </a:spcAft>
            </a:pPr>
            <a:r>
              <a:rPr sz="1150" b="1" i="0">
                <a:solidFill>
                  <a:srgbClr val="B6552A"/>
                </a:solidFill>
                <a:latin typeface="Courier New"/>
              </a:rPr>
              <a:t>CLOSE</a:t>
            </a:r>
          </a:p>
        </p:txBody>
      </p:sp>
      <p:sp>
        <p:nvSpPr>
          <p:cNvPr id="5" name="TextBox 4"/>
          <p:cNvSpPr txBox="1"/>
          <p:nvPr/>
        </p:nvSpPr>
        <p:spPr>
          <a:xfrm>
            <a:off x="685800" y="1737360"/>
            <a:ext cx="10058400" cy="1005840"/>
          </a:xfrm>
          <a:prstGeom prst="rect">
            <a:avLst/>
          </a:prstGeom>
          <a:noFill/>
        </p:spPr>
        <p:txBody>
          <a:bodyPr wrap="square" lIns="0" rIns="0" tIns="0" bIns="0">
            <a:noAutofit/>
          </a:bodyPr>
          <a:lstStyle/>
          <a:p>
            <a:pPr algn="l">
              <a:lnSpc>
                <a:spcPct val="102000"/>
              </a:lnSpc>
              <a:spcAft>
                <a:spcPts val="0"/>
              </a:spcAft>
            </a:pPr>
            <a:r>
              <a:rPr sz="3000" b="1" i="0">
                <a:solidFill>
                  <a:srgbClr val="1D2130"/>
                </a:solidFill>
                <a:latin typeface="Georgia"/>
              </a:rPr>
              <a:t>Two waves, two different kinds of confidence</a:t>
            </a:r>
          </a:p>
        </p:txBody>
      </p:sp>
      <p:sp>
        <p:nvSpPr>
          <p:cNvPr id="6" name="TextBox 5"/>
          <p:cNvSpPr txBox="1"/>
          <p:nvPr/>
        </p:nvSpPr>
        <p:spPr>
          <a:xfrm>
            <a:off x="685800" y="2880360"/>
            <a:ext cx="8503920" cy="1188720"/>
          </a:xfrm>
          <a:prstGeom prst="rect">
            <a:avLst/>
          </a:prstGeom>
          <a:noFill/>
        </p:spPr>
        <p:txBody>
          <a:bodyPr wrap="square" lIns="0" rIns="0" tIns="0" bIns="0">
            <a:noAutofit/>
          </a:bodyPr>
          <a:lstStyle/>
          <a:p>
            <a:pPr algn="l">
              <a:lnSpc>
                <a:spcPct val="135000"/>
              </a:lnSpc>
              <a:spcAft>
                <a:spcPts val="0"/>
              </a:spcAft>
            </a:pPr>
            <a:r>
              <a:rPr sz="1650" b="0" i="0">
                <a:solidFill>
                  <a:srgbClr val="3A3F4E"/>
                </a:solidFill>
                <a:latin typeface="Calibri"/>
              </a:rPr>
              <a:t>Wave 1: measured, and it’s over. Wave 2: real, but too early to price. The smart bet is that banks capture this wave the same way they captured the last one — but that part is outside what this data can prove.</a:t>
            </a:r>
          </a:p>
        </p:txBody>
      </p:sp>
      <p:sp>
        <p:nvSpPr>
          <p:cNvPr id="7" name="Rectangle 6"/>
          <p:cNvSpPr/>
          <p:nvPr/>
        </p:nvSpPr>
        <p:spPr>
          <a:xfrm>
            <a:off x="685800" y="4251960"/>
            <a:ext cx="822960" cy="32004"/>
          </a:xfrm>
          <a:prstGeom prst="rect">
            <a:avLst/>
          </a:prstGeom>
          <a:solidFill>
            <a:srgbClr val="B655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4434840"/>
            <a:ext cx="5486400" cy="365760"/>
          </a:xfrm>
          <a:prstGeom prst="rect">
            <a:avLst/>
          </a:prstGeom>
          <a:noFill/>
        </p:spPr>
        <p:txBody>
          <a:bodyPr wrap="square" lIns="0" rIns="0" tIns="0" bIns="0">
            <a:noAutofit/>
          </a:bodyPr>
          <a:lstStyle/>
          <a:p>
            <a:pPr algn="l">
              <a:lnSpc>
                <a:spcPct val="115000"/>
              </a:lnSpc>
              <a:spcAft>
                <a:spcPts val="0"/>
              </a:spcAft>
            </a:pPr>
            <a:r>
              <a:rPr sz="1400" b="0" i="0">
                <a:solidFill>
                  <a:srgbClr val="6E6C5C"/>
                </a:solidFill>
                <a:latin typeface="Courier New"/>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